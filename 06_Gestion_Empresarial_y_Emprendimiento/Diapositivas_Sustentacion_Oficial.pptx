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670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[0:00 - 0:45] PRESENTADOR 1: ANGEL AUCANCELA</a:t>
            </a:r>
          </a:p>
          <a:p>
            <a:endParaRPr/>
          </a:p>
          <a:p>
            <a:r>
              <a:t>GUION LITERAL / PALABRAS DEL EXPOSITOR:</a:t>
            </a:r>
          </a:p>
          <a:p>
            <a:r>
              <a:t>"Muy buenos días distinguidos miembros del tribunal calificador, estimada docente y presentes. </a:t>
            </a:r>
          </a:p>
          <a:p>
            <a:r>
              <a:t>Mi nombre es Angel Stalin Aucancela Tamay y, junto a mi compañero Felipe Renato Ricaurte Solis, tenemos el honor de presentarles nuestro Proyecto Integrador titulado: 'Sistema Web para el Pesaje y Control del Comercio de la Producción Agrícola en la Empresa El Troje'.</a:t>
            </a:r>
          </a:p>
          <a:p>
            <a:endParaRPr/>
          </a:p>
          <a:p>
            <a:r>
              <a:t>En los próximos 10 minutos les demostraremos cómo transformamos una operación crítica tradicional basada en pesaje manual, en un ecosistema web inteligente de alta precisión, integrando directamente hardware industrial Mettler Toledo con .NET 10, Angular 19 y analítica de negocios. </a:t>
            </a:r>
          </a:p>
          <a:p>
            <a:endParaRPr/>
          </a:p>
          <a:p>
            <a:r>
              <a:t>A continuación, revisaremos el diagnóstico de la problemática actual y los objetivos trazados."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[0:45 - 1:45] PRESENTADOR 1: ANGEL AUCANCELA</a:t>
            </a:r>
          </a:p>
          <a:p>
            <a:endParaRPr/>
          </a:p>
          <a:p>
            <a:r>
              <a:t>GUION LITERAL / PALABRAS DEL EXPOSITOR:</a:t>
            </a:r>
          </a:p>
          <a:p>
            <a:r>
              <a:t>"Para entender la necesidad del proyecto, debemos situarnos en la realidad de la empresa 'El Troje', un centro de acopio agrícola donde la recepción de cosecha depende del pesaje de camiones de carga.</a:t>
            </a:r>
          </a:p>
          <a:p>
            <a:endParaRPr/>
          </a:p>
          <a:p>
            <a:r>
              <a:t>Identificamos tres problemas críticos:</a:t>
            </a:r>
          </a:p>
          <a:p>
            <a:r>
              <a:t>1. Primero, el proceso de pesaje se realizaba de manera manual: el operador observaba el indicador de la báscula y digitaba los valores en hojas de papel o planillas de cálculo. Esto generaba errores de digitación, cuellos de botella en la entrada de vehículos y lentitud operativa.</a:t>
            </a:r>
          </a:p>
          <a:p>
            <a:r>
              <a:t>2. Segundo, existía una vulnerabilidad grave en la trazabilidad: no había registros inalterables de auditoría, lo que provocaba discrepancias comerciales entre agricultores y compradores sobre el peso neto real liquidado.</a:t>
            </a:r>
          </a:p>
          <a:p>
            <a:r>
              <a:t>3. Tercero, el aislamiento tecnológico: las balanzas tradicionales operan por puertos seriales locales sin conectividad web en tiempo real ni inteligencia de negocios.</a:t>
            </a:r>
          </a:p>
          <a:p>
            <a:endParaRPr/>
          </a:p>
          <a:p>
            <a:r>
              <a:t>Frente a esto, nos planteamos la pregunta central: ¿Cómo automatizar y asegurar este proceso mediante un sistema web inteligente y conectado en red con la balanza industrial?"</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[1:45 - 2:45] PRESENTADOR 1: ANGEL AUCANCELA</a:t>
            </a:r>
          </a:p>
          <a:p>
            <a:endParaRPr/>
          </a:p>
          <a:p>
            <a:r>
              <a:t>GUION LITERAL / PALABRAS DEL EXPOSITOR:</a:t>
            </a:r>
          </a:p>
          <a:p>
            <a:r>
              <a:t>"Para solucionar de raíz estos problemas, establecimos objetivos claros y medibles.</a:t>
            </a:r>
          </a:p>
          <a:p>
            <a:endParaRPr/>
          </a:p>
          <a:p>
            <a:r>
              <a:t>Nuestro Objetivo General fue desarrollar e implementar un sistema web integral que automatice el pesaje y control vehicular en 'El Troje', integrándose directamente por red Ethernet con el indicador industrial Mettler Toledo IND780, garantizando auditoría completa y reportes analíticos.</a:t>
            </a:r>
          </a:p>
          <a:p>
            <a:endParaRPr/>
          </a:p>
          <a:p>
            <a:r>
              <a:t>Para alcanzarlo, definimos 4 Objetivos Específicos:</a:t>
            </a:r>
          </a:p>
          <a:p>
            <a:r>
              <a:t>1. Diseñar una interfaz gráfica amigable e intuitiva en Angular 19 para los operadores de báscula.</a:t>
            </a:r>
          </a:p>
          <a:p>
            <a:r>
              <a:t>2. Implementar el ciclo completo de doble pesaje: captura de entrada con peso bruto y salida con tara para calcular automáticamente el peso neto liquidable.</a:t>
            </a:r>
          </a:p>
          <a:p>
            <a:r>
              <a:t>3. Desarrollar la capa de comunicación de red TCP/IP para escuchar las tramas industriales a 15 lecturas por segundo con validación estricta de peso estable.</a:t>
            </a:r>
          </a:p>
          <a:p>
            <a:r>
              <a:t>4. Y finalmente, estructurar un modelo de datos con auditoría integral inalterable y cubos analíticos OLAP para la toma de decisiones gerenciales."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[2:45 - 4:00] PRESENTADOR 1: ANGEL AUCANCELA ➡️ TRANSICIÓN A FELIPE RICAURTE</a:t>
            </a:r>
          </a:p>
          <a:p>
            <a:endParaRPr/>
          </a:p>
          <a:p>
            <a:r>
              <a:t>GUION LITERAL / PALABRAS DEL EXPOSITOR:</a:t>
            </a:r>
          </a:p>
          <a:p>
            <a:r>
              <a:t>"Para garantizar una solución robusta, escalable y mantenible según las mejores prácticas de ingeniería de software (Bass et al., 2022), diseñamos una arquitectura en 5 capas desacopladas:</a:t>
            </a:r>
          </a:p>
          <a:p>
            <a:endParaRPr/>
          </a:p>
          <a:p>
            <a:r>
              <a:t>1. Capa de Presentación: Construida en Angular 19 con Signals reactivos y componentes Standalone, ofreciendo una experiencia en tiempo real sin recargas.</a:t>
            </a:r>
          </a:p>
          <a:p>
            <a:r>
              <a:t>2. Capa de Servicios y Negocio: Desarrollada en .NET 10 con C#, implementando el patrón Repository y Unit of Work para aislar la lógica comercial y auditoría.</a:t>
            </a:r>
          </a:p>
          <a:p>
            <a:r>
              <a:t>3. Capa de Acceso a Datos: Empleando Dapper Micro-ORM, logrando tiempos de respuesta de milisegundos en transacciones concurrentes.</a:t>
            </a:r>
          </a:p>
          <a:p>
            <a:r>
              <a:t>4. Capa de Persistencia y Analítica: En SQL Server 2022, implementando un diseño híbrido con base de datos OLTP para el pesaje diario y un Data Warehouse en estrella para la analítica.</a:t>
            </a:r>
          </a:p>
          <a:p>
            <a:r>
              <a:t>5. Y la Capa de Hardware Industrial: Conectada directamente al terminal Mettler Toledo IND780 mediante sockets de red.</a:t>
            </a:r>
          </a:p>
          <a:p>
            <a:endParaRPr/>
          </a:p>
          <a:p>
            <a:r>
              <a:t>[CAMBIO DE EXPOSITOR A LOS 4:00 MINUTOS EXACTOS]</a:t>
            </a:r>
          </a:p>
          <a:p>
            <a:r>
              <a:t>Para detallar cómo funciona la integración del hardware en tiempo real, el flujo operativo y la inteligencia de negocios, cedo la palabra a mi compañero Felipe Ricaurte."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[4:00 - 5:30] PRESENTADOR 2: FELIPE RICAURTE</a:t>
            </a:r>
          </a:p>
          <a:p>
            <a:endParaRPr/>
          </a:p>
          <a:p>
            <a:r>
              <a:t>GUION LITERAL / PALABRAS DEL EXPOSITOR:</a:t>
            </a:r>
          </a:p>
          <a:p>
            <a:r>
              <a:t>"Muchas gracias Angel. Continuando con la defensa técnica, uno de los mayores aportes de este proyecto es la integración industrial con el indicador Mettler Toledo IND780.</a:t>
            </a:r>
          </a:p>
          <a:p>
            <a:endParaRPr/>
          </a:p>
          <a:p>
            <a:r>
              <a:t>A diferencia de los sistemas tradicionales que dependen de cables seriales locales propensos a interferencias y limitados a una sola máquina, nosotros implementamos comunicación directa por Ethernet mediante Sockets TCP/IP en .NET 10.</a:t>
            </a:r>
          </a:p>
          <a:p>
            <a:endParaRPr/>
          </a:p>
          <a:p>
            <a:r>
              <a:t>¿Cómo garantizamos la precisión absoluta del pesaje?</a:t>
            </a:r>
          </a:p>
          <a:p>
            <a:r>
              <a:t>El indicador transmite datos bajo el protocolo de Salida Continua a una tasa de 15 tramas por segundo. Nuestro servicio en segundo plano escucha estas tramas y ejecuta un algoritmo de validación de estabilidad:</a:t>
            </a:r>
          </a:p>
          <a:p>
            <a:r>
              <a:t>- Si el camión está frenando o acomodándose, la báscula envía el estado 'M' (Motion / En Movimiento), y el sistema bloquea el registro.</a:t>
            </a:r>
          </a:p>
          <a:p>
            <a:r>
              <a:t>- Únicamente cuando la báscula confirma el estado 'S' (Stable / Estable), el peso es parseado y validado.</a:t>
            </a:r>
          </a:p>
          <a:p>
            <a:endParaRPr/>
          </a:p>
          <a:p>
            <a:r>
              <a:t>Como señala la literatura especializada (Fowler, 2023), esta validación de estabilidad en tiempo real elimina entre un 30% y 40% de errores acumulativos causados por vibraciones mecánicas y viento."</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[5:30 - 7:00] PRESENTADOR 2: FELIPE RICAURTE</a:t>
            </a:r>
          </a:p>
          <a:p>
            <a:endParaRPr/>
          </a:p>
          <a:p>
            <a:r>
              <a:t>GUION LITERAL / PALABRAS DEL EXPOSITOR:</a:t>
            </a:r>
          </a:p>
          <a:p>
            <a:r>
              <a:t>"Ahora veamos el flujo operativo que vive el usuario y cómo el sistema garantiza una operación sin fricciones:</a:t>
            </a:r>
          </a:p>
          <a:p>
            <a:endParaRPr/>
          </a:p>
          <a:p>
            <a:r>
              <a:t>El proceso se compone de 4 pasos automatizados:</a:t>
            </a:r>
          </a:p>
          <a:p>
            <a:r>
              <a:t>1. Entrada y Peso Bruto: El camión ingresa a la plataforma de la báscula. El operador en la interfaz de Angular 19 selecciona el cliente y producto; con un solo clic, el sistema captura el Peso Bruto directamente desde el socket TCP/IP sin que nadie deba digitar números. Se emite el ticket de entrada.</a:t>
            </a:r>
          </a:p>
          <a:p>
            <a:r>
              <a:t>2. Descarga en Bodega: El camión se traslada al área de descarga de grano o producto agrícola. El sistema cronometra el tiempo de permanencia en patio.</a:t>
            </a:r>
          </a:p>
          <a:p>
            <a:r>
              <a:t>3. Salida y Peso Neto: El camión retorna vacío a la báscula. Se captura la Tara de salida y el sistema calcula instantáneamente el Peso Neto real entregado, emitiendo el ticket oficial de pesaje con código de seguridad.</a:t>
            </a:r>
          </a:p>
          <a:p>
            <a:r>
              <a:t>4. Auditoría Integral: Simultáneamente, en segundo plano se registra una traza de auditoría con la dirección IP del terminal, el usuario responsable, fecha y milisegundo exacto.</a:t>
            </a:r>
          </a:p>
          <a:p>
            <a:endParaRPr/>
          </a:p>
          <a:p>
            <a:r>
              <a:t>Esto reduce el tiempo de atención de 8 minutos por camión a menos de 45 segundos, evitando fraudes y agilizando el flujo vehicular."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[7:00 - 8:15] PRESENTADOR 2: FELIPE RICAURTE</a:t>
            </a:r>
          </a:p>
          <a:p>
            <a:endParaRPr/>
          </a:p>
          <a:p>
            <a:r>
              <a:t>GUION LITERAL / PALABRAS DEL EXPOSITOR:</a:t>
            </a:r>
          </a:p>
          <a:p>
            <a:r>
              <a:t>"El valor de nuestro sistema no termina en la captura del pesaje; se maximiza en la analítica de negocios.</a:t>
            </a:r>
          </a:p>
          <a:p>
            <a:endParaRPr/>
          </a:p>
          <a:p>
            <a:r>
              <a:t>Siguiendo las teorías de Reis y Housley sobre ingeniería de datos moderna, implementamos una separación estricta entre el entorno transaccional OLTP y el entorno analítico OLAP:</a:t>
            </a:r>
          </a:p>
          <a:p>
            <a:r>
              <a:t>- El entorno OLTP procesa los pesajes con máxima velocidad y cero bloqueos.</a:t>
            </a:r>
          </a:p>
          <a:p>
            <a:r>
              <a:t>- El entorno OLAP, estructurado en un esquema de estrella con Data Warehouse, permite a la gerencia consultar métricas históricas de rendimiento, volúmenes recibidos por proveedor y tiempos de ciclo.</a:t>
            </a:r>
          </a:p>
          <a:p>
            <a:endParaRPr/>
          </a:p>
          <a:p>
            <a:r>
              <a:t>Además, integramos un Asistente de Inteligencia Artificial en lenguaje natural. Cualquier directivo puede escribir en la plataforma: '¿Cuál fue el proveedor con mayor volumen de cacao entregado este mes?' y el asistente analiza la base de datos y responde al instante con datos precisos y gráficos interactivos, democratizando el acceso a la información."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[8:15 - 9:15] PRESENTADOR 2: FELIPE RICAURTE ➡️ ANGEL AUCANCELA</a:t>
            </a:r>
          </a:p>
          <a:p>
            <a:endParaRPr/>
          </a:p>
          <a:p>
            <a:r>
              <a:t>GUION LITERAL / PALABRAS DEL EXPOSITOR:</a:t>
            </a:r>
          </a:p>
          <a:p>
            <a:r>
              <a:t>"Los resultados obtenidos tras la implementación y pruebas técnicas reflejan un impacto contundente:</a:t>
            </a:r>
          </a:p>
          <a:p>
            <a:r>
              <a:t>1. Logramos una reducción del 90% en el tiempo de procesamiento de pesaje, bajando de 8 minutos a menos de 45 segundos.</a:t>
            </a:r>
          </a:p>
          <a:p>
            <a:r>
              <a:t>2. Alcanzamos un 100% de precisión, erradicando los errores de digitación humana y falsas lecturas.</a:t>
            </a:r>
          </a:p>
          <a:p>
            <a:r>
              <a:t>3. Garantizamos un 100% de trazabilidad auditable con respaldo inalterable para auditorías internas y ante el SRI.</a:t>
            </a:r>
          </a:p>
          <a:p>
            <a:r>
              <a:t>4. Las pruebas de carga y concurrencia demostraron una estabilidad perfecta ante más de 100 tramas por segundo en el socket TCP/IP.</a:t>
            </a:r>
          </a:p>
          <a:p>
            <a:endParaRPr/>
          </a:p>
          <a:p>
            <a:r>
              <a:t>A continuación, mi compañero Angel Aucancela presentará las conclusiones finales del proyecto."</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[9:15 - 9:45] PRESENTADOR 1: ANGEL AUCANCELA</a:t>
            </a:r>
          </a:p>
          <a:p>
            <a:endParaRPr/>
          </a:p>
          <a:p>
            <a:r>
              <a:t>GUION LITERAL / PALABRAS DEL EXPOSITOR:</a:t>
            </a:r>
          </a:p>
          <a:p>
            <a:r>
              <a:t>"Como conclusiones principales de nuestro proyecto:</a:t>
            </a:r>
          </a:p>
          <a:p>
            <a:r>
              <a:t>1. Demostramos que la automatización directa de hardware industrial con tecnologías web modernas (.NET 10 y Angular 19) no solo elimina el error humano, sino que aporta transparencia total a la cadena de comercialización agrícola.</a:t>
            </a:r>
          </a:p>
          <a:p>
            <a:r>
              <a:t>2. La arquitectura desacoplada en 5 capas y la separación OLTP/OLAP permiten que el sistema sea escalable a múltiples básculas y centros de acopio en todo el país.</a:t>
            </a:r>
          </a:p>
          <a:p>
            <a:r>
              <a:t>3. Dejamos como recomendaciones y trabajo futuro la incorporación de cámaras LPR para lectura automática de placas y modelos de machine learning para predicción de cosecha."</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[9:45 - 10:00] AMBOS PRESENTADORES (ANGEL AUCANCELA Y FELIPE RICAURTE)</a:t>
            </a:r>
          </a:p>
          <a:p>
            <a:endParaRPr/>
          </a:p>
          <a:p>
            <a:r>
              <a:t>GUION LITERAL / PALABRAS DEL EXPOSITOR:</a:t>
            </a:r>
          </a:p>
          <a:p>
            <a:r>
              <a:t>ANGEL: "Con esto concluimos la presentación de nuestro Proyecto Integrador."</a:t>
            </a:r>
          </a:p>
          <a:p>
            <a:r>
              <a:t>FELIPE: "Agradecemos a los miembros del tribunal por su tiempo y atención. Quedamos a su entera disposición para responder a sus preguntas y profundizar en cualquier aspecto técnico o metodológico. Muchas gracias."</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914400"/>
            <a:ext cx="137160" cy="5029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914400"/>
            <a:ext cx="10058400" cy="365760"/>
          </a:xfrm>
          <a:prstGeom prst="rect">
            <a:avLst/>
          </a:prstGeom>
          <a:noFill/>
        </p:spPr>
        <p:txBody>
          <a:bodyPr wrap="none">
            <a:spAutoFit/>
          </a:bodyPr>
          <a:lstStyle/>
          <a:p>
            <a:pPr>
              <a:defRPr sz="1200" b="1">
                <a:solidFill>
                  <a:srgbClr val="34D399"/>
                </a:solidFill>
              </a:defRPr>
            </a:pPr>
            <a:r>
              <a:t>UNIVERSIDAD REGIONAL AUTÓNOMA DE LOS ANDES 'UNIANDES' • FACULTAD DE SISTEMAS</a:t>
            </a:r>
          </a:p>
        </p:txBody>
      </p:sp>
      <p:sp>
        <p:nvSpPr>
          <p:cNvPr id="5" name="TextBox 4"/>
          <p:cNvSpPr txBox="1"/>
          <p:nvPr/>
        </p:nvSpPr>
        <p:spPr>
          <a:xfrm>
            <a:off x="1097280" y="1280160"/>
            <a:ext cx="10058400" cy="1463040"/>
          </a:xfrm>
          <a:prstGeom prst="rect">
            <a:avLst/>
          </a:prstGeom>
          <a:noFill/>
        </p:spPr>
        <p:txBody>
          <a:bodyPr wrap="square">
            <a:spAutoFit/>
          </a:bodyPr>
          <a:lstStyle/>
          <a:p>
            <a:pPr>
              <a:defRPr sz="2800" b="1">
                <a:solidFill>
                  <a:srgbClr val="FFFFFF"/>
                </a:solidFill>
              </a:defRPr>
            </a:pPr>
            <a:r>
              <a:t>Sistema Web Inteligente para el Pesaje y Control del Comercio de la Producción Agrícola</a:t>
            </a:r>
          </a:p>
          <a:p>
            <a:pPr>
              <a:spcBef>
                <a:spcPts val="800"/>
              </a:spcBef>
              <a:defRPr sz="1500">
                <a:solidFill>
                  <a:srgbClr val="CBD5E1"/>
                </a:solidFill>
              </a:defRPr>
            </a:pPr>
            <a:r>
              <a:t>Automatización de Balanza Camionera Mettler Toledo IND780 mediante Socket Ethernet y Analítica de Negocios — Empresa 'El Troje'</a:t>
            </a:r>
          </a:p>
        </p:txBody>
      </p:sp>
      <p:sp>
        <p:nvSpPr>
          <p:cNvPr id="6" name="Rounded Rectangle 5"/>
          <p:cNvSpPr/>
          <p:nvPr/>
        </p:nvSpPr>
        <p:spPr>
          <a:xfrm>
            <a:off x="1097280" y="3474720"/>
            <a:ext cx="4572000" cy="2468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4131023"/>
            <a:ext cx="4023360" cy="2103120"/>
          </a:xfrm>
          <a:prstGeom prst="rect">
            <a:avLst/>
          </a:prstGeom>
          <a:noFill/>
        </p:spPr>
        <p:txBody>
          <a:bodyPr wrap="square">
            <a:spAutoFit/>
          </a:bodyPr>
          <a:lstStyle/>
          <a:p>
            <a:pPr>
              <a:defRPr sz="1100" b="1">
                <a:solidFill>
                  <a:srgbClr val="38BDF8"/>
                </a:solidFill>
              </a:defRPr>
            </a:pPr>
            <a:r>
              <a:rPr dirty="0"/>
              <a:t>INTEGRANTES / EXPOSITORES:</a:t>
            </a:r>
          </a:p>
          <a:p>
            <a:pPr>
              <a:spcBef>
                <a:spcPts val="800"/>
              </a:spcBef>
              <a:defRPr sz="1300" b="1">
                <a:solidFill>
                  <a:srgbClr val="FFFFFF"/>
                </a:solidFill>
              </a:defRPr>
            </a:pPr>
            <a:r>
              <a:rPr dirty="0"/>
              <a:t>• Angel Stalin Aucancela Tamay (</a:t>
            </a:r>
            <a:r>
              <a:rPr dirty="0" err="1"/>
              <a:t>Presentador</a:t>
            </a:r>
            <a:r>
              <a:rPr dirty="0"/>
              <a:t> 1)</a:t>
            </a:r>
          </a:p>
          <a:p>
            <a:pPr>
              <a:spcBef>
                <a:spcPts val="600"/>
              </a:spcBef>
              <a:defRPr sz="1300" b="1">
                <a:solidFill>
                  <a:srgbClr val="FFFFFF"/>
                </a:solidFill>
              </a:defRPr>
            </a:pPr>
            <a:r>
              <a:rPr dirty="0"/>
              <a:t>• Ricaurte Solis Felipe Renato (</a:t>
            </a:r>
            <a:r>
              <a:rPr dirty="0" err="1"/>
              <a:t>Presentador</a:t>
            </a:r>
            <a:r>
              <a:rPr dirty="0"/>
              <a:t> 2)</a:t>
            </a:r>
          </a:p>
          <a:p>
            <a:pPr>
              <a:spcBef>
                <a:spcPts val="800"/>
              </a:spcBef>
              <a:defRPr sz="1100">
                <a:solidFill>
                  <a:srgbClr val="94A3B8"/>
                </a:solidFill>
              </a:defRPr>
            </a:pPr>
            <a:r>
              <a:rPr dirty="0"/>
              <a:t>Carrera de Ingeniería de Software — 6to </a:t>
            </a:r>
            <a:r>
              <a:rPr dirty="0" err="1"/>
              <a:t>Semestre</a:t>
            </a:r>
            <a:endParaRPr dirty="0"/>
          </a:p>
        </p:txBody>
      </p:sp>
      <p:sp>
        <p:nvSpPr>
          <p:cNvPr id="8" name="Rounded Rectangle 7"/>
          <p:cNvSpPr/>
          <p:nvPr/>
        </p:nvSpPr>
        <p:spPr>
          <a:xfrm>
            <a:off x="5943600" y="3474720"/>
            <a:ext cx="5212080" cy="246888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17920" y="4131023"/>
            <a:ext cx="4663440" cy="2103120"/>
          </a:xfrm>
          <a:prstGeom prst="rect">
            <a:avLst/>
          </a:prstGeom>
          <a:noFill/>
        </p:spPr>
        <p:txBody>
          <a:bodyPr wrap="square">
            <a:spAutoFit/>
          </a:bodyPr>
          <a:lstStyle/>
          <a:p>
            <a:pPr>
              <a:defRPr sz="1100" b="1">
                <a:solidFill>
                  <a:srgbClr val="34D399"/>
                </a:solidFill>
              </a:defRPr>
            </a:pPr>
            <a:r>
              <a:rPr dirty="0"/>
              <a:t>ESTRUCTURA DE DEFENSA (10 MINUTOS):</a:t>
            </a:r>
          </a:p>
          <a:p>
            <a:pPr>
              <a:spcBef>
                <a:spcPts val="600"/>
              </a:spcBef>
              <a:defRPr sz="1100">
                <a:solidFill>
                  <a:srgbClr val="E2E8F0"/>
                </a:solidFill>
              </a:defRPr>
            </a:pPr>
            <a:r>
              <a:rPr dirty="0"/>
              <a:t>Bloque 1 (0:00 - 4:00) : </a:t>
            </a:r>
            <a:r>
              <a:rPr dirty="0" err="1"/>
              <a:t>Contexto</a:t>
            </a:r>
            <a:r>
              <a:rPr dirty="0"/>
              <a:t>, </a:t>
            </a:r>
            <a:r>
              <a:rPr dirty="0" err="1"/>
              <a:t>Problema</a:t>
            </a:r>
            <a:r>
              <a:rPr dirty="0"/>
              <a:t>, </a:t>
            </a:r>
            <a:r>
              <a:rPr dirty="0" err="1"/>
              <a:t>Objetivos</a:t>
            </a:r>
            <a:r>
              <a:rPr dirty="0"/>
              <a:t> y </a:t>
            </a:r>
            <a:r>
              <a:rPr dirty="0" err="1"/>
              <a:t>Arquitectura</a:t>
            </a:r>
            <a:r>
              <a:rPr dirty="0"/>
              <a:t> 5 </a:t>
            </a:r>
            <a:r>
              <a:rPr dirty="0" err="1"/>
              <a:t>Capas</a:t>
            </a:r>
            <a:endParaRPr dirty="0"/>
          </a:p>
          <a:p>
            <a:pPr>
              <a:spcBef>
                <a:spcPts val="600"/>
              </a:spcBef>
              <a:defRPr sz="1100">
                <a:solidFill>
                  <a:srgbClr val="E2E8F0"/>
                </a:solidFill>
              </a:defRPr>
            </a:pPr>
            <a:r>
              <a:rPr dirty="0"/>
              <a:t>Bloque 2 (4:00 - 8:30) : </a:t>
            </a:r>
            <a:r>
              <a:rPr dirty="0" err="1"/>
              <a:t>Integración</a:t>
            </a:r>
            <a:r>
              <a:rPr dirty="0"/>
              <a:t> Socket TCP/IP, </a:t>
            </a:r>
            <a:r>
              <a:rPr dirty="0" err="1"/>
              <a:t>Demostración</a:t>
            </a:r>
            <a:r>
              <a:rPr dirty="0"/>
              <a:t> y </a:t>
            </a:r>
            <a:r>
              <a:rPr dirty="0" err="1"/>
              <a:t>Analítica</a:t>
            </a:r>
            <a:r>
              <a:rPr dirty="0"/>
              <a:t> OLAP/IA</a:t>
            </a:r>
          </a:p>
          <a:p>
            <a:pPr>
              <a:spcBef>
                <a:spcPts val="600"/>
              </a:spcBef>
              <a:defRPr sz="1100">
                <a:solidFill>
                  <a:srgbClr val="E2E8F0"/>
                </a:solidFill>
              </a:defRPr>
            </a:pPr>
            <a:r>
              <a:rPr dirty="0"/>
              <a:t>Bloque 3 (8:30 - 10:00): </a:t>
            </a:r>
            <a:r>
              <a:rPr dirty="0" err="1"/>
              <a:t>Resultados</a:t>
            </a:r>
            <a:r>
              <a:rPr dirty="0"/>
              <a:t> de Impacto, </a:t>
            </a:r>
            <a:r>
              <a:rPr dirty="0" err="1"/>
              <a:t>Conclusiones</a:t>
            </a:r>
            <a:r>
              <a:rPr dirty="0"/>
              <a:t> y </a:t>
            </a:r>
            <a:r>
              <a:rPr dirty="0" err="1"/>
              <a:t>Preguntas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1100" b="1">
                <a:solidFill>
                  <a:srgbClr val="059669"/>
                </a:solidFill>
              </a:defRPr>
            </a:pPr>
            <a:r>
              <a:t>1. CONTEXTO OPERATIVO</a:t>
            </a:r>
          </a:p>
        </p:txBody>
      </p:sp>
      <p:sp>
        <p:nvSpPr>
          <p:cNvPr id="4" name="TextBox 3"/>
          <p:cNvSpPr txBox="1"/>
          <p:nvPr/>
        </p:nvSpPr>
        <p:spPr>
          <a:xfrm>
            <a:off x="731520" y="640080"/>
            <a:ext cx="7772400" cy="548640"/>
          </a:xfrm>
          <a:prstGeom prst="rect">
            <a:avLst/>
          </a:prstGeom>
          <a:noFill/>
        </p:spPr>
        <p:txBody>
          <a:bodyPr wrap="square" lIns="0" tIns="0" rIns="0" bIns="0">
            <a:spAutoFit/>
          </a:bodyPr>
          <a:lstStyle/>
          <a:p>
            <a:pPr>
              <a:defRPr sz="2200" b="1">
                <a:solidFill>
                  <a:srgbClr val="0F172A"/>
                </a:solidFill>
              </a:defRPr>
            </a:pPr>
            <a:r>
              <a:t>Diagnóstico y Planteamiento del Problema</a:t>
            </a:r>
          </a:p>
        </p:txBody>
      </p:sp>
      <p:sp>
        <p:nvSpPr>
          <p:cNvPr id="5" name="Rounded Rectangle 4"/>
          <p:cNvSpPr/>
          <p:nvPr/>
        </p:nvSpPr>
        <p:spPr>
          <a:xfrm>
            <a:off x="8168335" y="411480"/>
            <a:ext cx="3291840" cy="594360"/>
          </a:xfrm>
          <a:prstGeom prst="round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0369A1"/>
                </a:solidFill>
              </a:defRPr>
            </a:pPr>
            <a:r>
              <a:t>👤 Angel Aucancela</a:t>
            </a:r>
          </a:p>
          <a:p>
            <a:pPr algn="ctr">
              <a:defRPr sz="950">
                <a:solidFill>
                  <a:srgbClr val="0369A1"/>
                </a:solidFill>
              </a:defRPr>
            </a:pPr>
            <a:r>
              <a:t>⏱️ 0:45 - 1:45 (60 seg)</a:t>
            </a:r>
          </a:p>
        </p:txBody>
      </p:sp>
      <p:sp>
        <p:nvSpPr>
          <p:cNvPr id="6" name="Rounded Rectangle 5"/>
          <p:cNvSpPr/>
          <p:nvPr/>
        </p:nvSpPr>
        <p:spPr>
          <a:xfrm>
            <a:off x="731520" y="1463040"/>
            <a:ext cx="3337560" cy="3657600"/>
          </a:xfrm>
          <a:prstGeom prst="roundRect">
            <a:avLst/>
          </a:prstGeom>
          <a:solidFill>
            <a:srgbClr val="FEF2F2"/>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377440"/>
            <a:ext cx="2880360" cy="3200400"/>
          </a:xfrm>
          <a:prstGeom prst="rect">
            <a:avLst/>
          </a:prstGeom>
          <a:noFill/>
        </p:spPr>
        <p:txBody>
          <a:bodyPr wrap="square">
            <a:spAutoFit/>
          </a:bodyPr>
          <a:lstStyle/>
          <a:p>
            <a:pPr>
              <a:defRPr sz="1400" b="1">
                <a:solidFill>
                  <a:srgbClr val="0F172A"/>
                </a:solidFill>
              </a:defRPr>
            </a:pPr>
            <a:r>
              <a:rPr dirty="0"/>
              <a:t>🔴 Registro Manual </a:t>
            </a:r>
            <a:r>
              <a:rPr dirty="0" err="1"/>
              <a:t>Ineficiente</a:t>
            </a:r>
            <a:endParaRPr dirty="0"/>
          </a:p>
          <a:p>
            <a:pPr>
              <a:spcBef>
                <a:spcPts val="1200"/>
              </a:spcBef>
              <a:defRPr sz="1150">
                <a:solidFill>
                  <a:srgbClr val="1E293B"/>
                </a:solidFill>
              </a:defRPr>
            </a:pPr>
            <a:r>
              <a:rPr dirty="0"/>
              <a:t>• </a:t>
            </a:r>
            <a:r>
              <a:rPr dirty="0" err="1"/>
              <a:t>Captura</a:t>
            </a:r>
            <a:r>
              <a:rPr dirty="0"/>
              <a:t> manual de peso </a:t>
            </a:r>
            <a:r>
              <a:rPr dirty="0" err="1"/>
              <a:t>en</a:t>
            </a:r>
            <a:r>
              <a:rPr dirty="0"/>
              <a:t> </a:t>
            </a:r>
            <a:r>
              <a:rPr dirty="0" err="1"/>
              <a:t>papel</a:t>
            </a:r>
            <a:r>
              <a:rPr dirty="0"/>
              <a:t> o Excel </a:t>
            </a:r>
            <a:r>
              <a:rPr dirty="0" err="1"/>
              <a:t>por</a:t>
            </a:r>
            <a:r>
              <a:rPr dirty="0"/>
              <a:t> </a:t>
            </a:r>
            <a:r>
              <a:rPr dirty="0" err="1"/>
              <a:t>parte</a:t>
            </a:r>
            <a:r>
              <a:rPr dirty="0"/>
              <a:t> del </a:t>
            </a:r>
            <a:r>
              <a:rPr dirty="0" err="1"/>
              <a:t>operador</a:t>
            </a:r>
            <a:r>
              <a:rPr dirty="0"/>
              <a:t>.</a:t>
            </a:r>
          </a:p>
          <a:p>
            <a:pPr>
              <a:spcBef>
                <a:spcPts val="1200"/>
              </a:spcBef>
              <a:defRPr sz="1150">
                <a:solidFill>
                  <a:srgbClr val="1E293B"/>
                </a:solidFill>
              </a:defRPr>
            </a:pPr>
            <a:r>
              <a:rPr dirty="0"/>
              <a:t>• Alto </a:t>
            </a:r>
            <a:r>
              <a:rPr dirty="0" err="1"/>
              <a:t>margen</a:t>
            </a:r>
            <a:r>
              <a:rPr dirty="0"/>
              <a:t> de error </a:t>
            </a:r>
            <a:r>
              <a:rPr dirty="0" err="1"/>
              <a:t>humano</a:t>
            </a:r>
            <a:r>
              <a:rPr dirty="0"/>
              <a:t> </a:t>
            </a:r>
            <a:r>
              <a:rPr dirty="0" err="1"/>
              <a:t>en</a:t>
            </a:r>
            <a:r>
              <a:rPr dirty="0"/>
              <a:t> </a:t>
            </a:r>
            <a:r>
              <a:rPr dirty="0" err="1"/>
              <a:t>digitación</a:t>
            </a:r>
            <a:r>
              <a:rPr dirty="0"/>
              <a:t> y </a:t>
            </a:r>
            <a:r>
              <a:rPr dirty="0" err="1"/>
              <a:t>cálculo</a:t>
            </a:r>
            <a:r>
              <a:rPr dirty="0"/>
              <a:t> de </a:t>
            </a:r>
            <a:r>
              <a:rPr dirty="0" err="1"/>
              <a:t>tara</a:t>
            </a:r>
            <a:r>
              <a:rPr dirty="0"/>
              <a:t>.</a:t>
            </a:r>
          </a:p>
          <a:p>
            <a:pPr>
              <a:spcBef>
                <a:spcPts val="1200"/>
              </a:spcBef>
              <a:defRPr sz="1150">
                <a:solidFill>
                  <a:srgbClr val="1E293B"/>
                </a:solidFill>
              </a:defRPr>
            </a:pPr>
            <a:r>
              <a:rPr dirty="0"/>
              <a:t>• </a:t>
            </a:r>
            <a:r>
              <a:rPr dirty="0" err="1"/>
              <a:t>Demoras</a:t>
            </a:r>
            <a:r>
              <a:rPr dirty="0"/>
              <a:t> </a:t>
            </a:r>
            <a:r>
              <a:rPr dirty="0" err="1"/>
              <a:t>excesivas</a:t>
            </a:r>
            <a:r>
              <a:rPr dirty="0"/>
              <a:t> </a:t>
            </a:r>
            <a:r>
              <a:rPr dirty="0" err="1"/>
              <a:t>en</a:t>
            </a:r>
            <a:r>
              <a:rPr dirty="0"/>
              <a:t> patio de </a:t>
            </a:r>
            <a:r>
              <a:rPr dirty="0" err="1"/>
              <a:t>maniobras</a:t>
            </a:r>
            <a:r>
              <a:rPr dirty="0"/>
              <a:t> (</a:t>
            </a:r>
            <a:r>
              <a:rPr dirty="0" err="1"/>
              <a:t>cuellos</a:t>
            </a:r>
            <a:r>
              <a:rPr dirty="0"/>
              <a:t> de </a:t>
            </a:r>
            <a:r>
              <a:rPr dirty="0" err="1"/>
              <a:t>botella</a:t>
            </a:r>
            <a:r>
              <a:rPr dirty="0"/>
              <a:t>).</a:t>
            </a:r>
          </a:p>
        </p:txBody>
      </p:sp>
      <p:sp>
        <p:nvSpPr>
          <p:cNvPr id="8" name="Rounded Rectangle 7"/>
          <p:cNvSpPr/>
          <p:nvPr/>
        </p:nvSpPr>
        <p:spPr>
          <a:xfrm>
            <a:off x="4389120" y="1463040"/>
            <a:ext cx="3337560" cy="3657600"/>
          </a:xfrm>
          <a:prstGeom prst="roundRect">
            <a:avLst/>
          </a:prstGeom>
          <a:solidFill>
            <a:srgbClr val="FFFBEB"/>
          </a:solidFill>
          <a:ln w="15240">
            <a:solidFill>
              <a:srgbClr val="FEF0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17720" y="2377440"/>
            <a:ext cx="2880360" cy="3200400"/>
          </a:xfrm>
          <a:prstGeom prst="rect">
            <a:avLst/>
          </a:prstGeom>
          <a:noFill/>
        </p:spPr>
        <p:txBody>
          <a:bodyPr wrap="square">
            <a:spAutoFit/>
          </a:bodyPr>
          <a:lstStyle/>
          <a:p>
            <a:pPr>
              <a:defRPr sz="1400" b="1">
                <a:solidFill>
                  <a:srgbClr val="0F172A"/>
                </a:solidFill>
              </a:defRPr>
            </a:pPr>
            <a:r>
              <a:t>🟠 Pérdida de Trazabilidad y Riesgo</a:t>
            </a:r>
          </a:p>
          <a:p>
            <a:pPr>
              <a:spcBef>
                <a:spcPts val="1200"/>
              </a:spcBef>
              <a:defRPr sz="1150">
                <a:solidFill>
                  <a:srgbClr val="1E293B"/>
                </a:solidFill>
              </a:defRPr>
            </a:pPr>
            <a:r>
              <a:t>• Falta de auditoría estricta (no hay registro de IP, hora ni usuario).</a:t>
            </a:r>
          </a:p>
          <a:p>
            <a:pPr>
              <a:spcBef>
                <a:spcPts val="1200"/>
              </a:spcBef>
              <a:defRPr sz="1150">
                <a:solidFill>
                  <a:srgbClr val="1E293B"/>
                </a:solidFill>
              </a:defRPr>
            </a:pPr>
            <a:r>
              <a:t>• Disputas comerciales frecuentes entre agricultor y centro de acopio.</a:t>
            </a:r>
          </a:p>
          <a:p>
            <a:pPr>
              <a:spcBef>
                <a:spcPts val="1200"/>
              </a:spcBef>
              <a:defRPr sz="1150">
                <a:solidFill>
                  <a:srgbClr val="1E293B"/>
                </a:solidFill>
              </a:defRPr>
            </a:pPr>
            <a:r>
              <a:t>• Dificultad de cumplimiento ante normativas tributarias (SRI).</a:t>
            </a:r>
          </a:p>
        </p:txBody>
      </p:sp>
      <p:sp>
        <p:nvSpPr>
          <p:cNvPr id="10" name="Rounded Rectangle 9"/>
          <p:cNvSpPr/>
          <p:nvPr/>
        </p:nvSpPr>
        <p:spPr>
          <a:xfrm>
            <a:off x="8046720" y="1463040"/>
            <a:ext cx="3337560" cy="3657600"/>
          </a:xfrm>
          <a:prstGeom prst="roundRect">
            <a:avLst/>
          </a:prstGeom>
          <a:solidFill>
            <a:srgbClr val="F0F9FF"/>
          </a:solidFill>
          <a:ln w="1524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2377440"/>
            <a:ext cx="2880360" cy="3200400"/>
          </a:xfrm>
          <a:prstGeom prst="rect">
            <a:avLst/>
          </a:prstGeom>
          <a:noFill/>
        </p:spPr>
        <p:txBody>
          <a:bodyPr wrap="square">
            <a:spAutoFit/>
          </a:bodyPr>
          <a:lstStyle/>
          <a:p>
            <a:pPr>
              <a:defRPr sz="1400" b="1">
                <a:solidFill>
                  <a:srgbClr val="0F172A"/>
                </a:solidFill>
              </a:defRPr>
            </a:pPr>
            <a:r>
              <a:rPr dirty="0"/>
              <a:t>🔵 </a:t>
            </a:r>
            <a:r>
              <a:rPr dirty="0" err="1"/>
              <a:t>Aislamiento</a:t>
            </a:r>
            <a:r>
              <a:rPr dirty="0"/>
              <a:t> del Hardware</a:t>
            </a:r>
          </a:p>
          <a:p>
            <a:pPr>
              <a:spcBef>
                <a:spcPts val="1200"/>
              </a:spcBef>
              <a:defRPr sz="1150">
                <a:solidFill>
                  <a:srgbClr val="1E293B"/>
                </a:solidFill>
              </a:defRPr>
            </a:pPr>
            <a:r>
              <a:rPr dirty="0"/>
              <a:t>• </a:t>
            </a:r>
            <a:r>
              <a:rPr dirty="0" err="1"/>
              <a:t>Balanzas</a:t>
            </a:r>
            <a:r>
              <a:rPr dirty="0"/>
              <a:t> </a:t>
            </a:r>
            <a:r>
              <a:rPr dirty="0" err="1"/>
              <a:t>camioneras</a:t>
            </a:r>
            <a:r>
              <a:rPr dirty="0"/>
              <a:t> </a:t>
            </a:r>
            <a:r>
              <a:rPr dirty="0" err="1"/>
              <a:t>limitadas</a:t>
            </a:r>
            <a:r>
              <a:rPr dirty="0"/>
              <a:t> a </a:t>
            </a:r>
            <a:r>
              <a:rPr dirty="0" err="1"/>
              <a:t>puertos</a:t>
            </a:r>
            <a:r>
              <a:rPr dirty="0"/>
              <a:t> </a:t>
            </a:r>
            <a:r>
              <a:rPr dirty="0" err="1"/>
              <a:t>seriales</a:t>
            </a:r>
            <a:r>
              <a:rPr dirty="0"/>
              <a:t> locales RS-232.</a:t>
            </a:r>
          </a:p>
          <a:p>
            <a:pPr>
              <a:spcBef>
                <a:spcPts val="1200"/>
              </a:spcBef>
              <a:defRPr sz="1150">
                <a:solidFill>
                  <a:srgbClr val="1E293B"/>
                </a:solidFill>
              </a:defRPr>
            </a:pPr>
            <a:r>
              <a:rPr dirty="0"/>
              <a:t>• </a:t>
            </a:r>
            <a:r>
              <a:rPr dirty="0" err="1"/>
              <a:t>Imposibilidad</a:t>
            </a:r>
            <a:r>
              <a:rPr dirty="0"/>
              <a:t> de </a:t>
            </a:r>
            <a:r>
              <a:rPr dirty="0" err="1"/>
              <a:t>centralizar</a:t>
            </a:r>
            <a:r>
              <a:rPr dirty="0"/>
              <a:t> </a:t>
            </a:r>
            <a:r>
              <a:rPr dirty="0" err="1"/>
              <a:t>datos</a:t>
            </a:r>
            <a:r>
              <a:rPr dirty="0"/>
              <a:t> </a:t>
            </a:r>
            <a:r>
              <a:rPr dirty="0" err="1"/>
              <a:t>en</a:t>
            </a:r>
            <a:r>
              <a:rPr dirty="0"/>
              <a:t> </a:t>
            </a:r>
            <a:r>
              <a:rPr dirty="0" err="1"/>
              <a:t>tiempo</a:t>
            </a:r>
            <a:r>
              <a:rPr dirty="0"/>
              <a:t> real </a:t>
            </a:r>
            <a:r>
              <a:rPr dirty="0" err="1"/>
              <a:t>vía</a:t>
            </a:r>
            <a:r>
              <a:rPr dirty="0"/>
              <a:t> Web.</a:t>
            </a:r>
          </a:p>
          <a:p>
            <a:pPr>
              <a:spcBef>
                <a:spcPts val="1200"/>
              </a:spcBef>
              <a:defRPr sz="1150">
                <a:solidFill>
                  <a:srgbClr val="1E293B"/>
                </a:solidFill>
              </a:defRPr>
            </a:pPr>
            <a:r>
              <a:rPr dirty="0"/>
              <a:t>• </a:t>
            </a:r>
            <a:r>
              <a:rPr dirty="0" err="1"/>
              <a:t>Carencia</a:t>
            </a:r>
            <a:r>
              <a:rPr dirty="0"/>
              <a:t> de </a:t>
            </a:r>
            <a:r>
              <a:rPr dirty="0" err="1"/>
              <a:t>herramientas</a:t>
            </a:r>
            <a:r>
              <a:rPr dirty="0"/>
              <a:t> </a:t>
            </a:r>
            <a:r>
              <a:rPr dirty="0" err="1"/>
              <a:t>analíticas</a:t>
            </a:r>
            <a:r>
              <a:rPr dirty="0"/>
              <a:t> para </a:t>
            </a:r>
            <a:r>
              <a:rPr dirty="0" err="1"/>
              <a:t>pronosticar</a:t>
            </a:r>
            <a:r>
              <a:rPr dirty="0"/>
              <a:t> </a:t>
            </a:r>
            <a:r>
              <a:rPr dirty="0" err="1"/>
              <a:t>demanda</a:t>
            </a:r>
            <a:r>
              <a:rPr dirty="0"/>
              <a:t>.</a:t>
            </a:r>
          </a:p>
        </p:txBody>
      </p:sp>
      <p:sp>
        <p:nvSpPr>
          <p:cNvPr id="12" name="Rounded Rectangle 11"/>
          <p:cNvSpPr/>
          <p:nvPr/>
        </p:nvSpPr>
        <p:spPr>
          <a:xfrm>
            <a:off x="731520" y="5303520"/>
            <a:ext cx="10728655" cy="100584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349240"/>
            <a:ext cx="10332720" cy="914400"/>
          </a:xfrm>
          <a:prstGeom prst="rect">
            <a:avLst/>
          </a:prstGeom>
          <a:noFill/>
        </p:spPr>
        <p:txBody>
          <a:bodyPr wrap="square">
            <a:spAutoFit/>
          </a:bodyPr>
          <a:lstStyle/>
          <a:p>
            <a:pPr>
              <a:defRPr sz="1000" b="1">
                <a:solidFill>
                  <a:srgbClr val="34D399"/>
                </a:solidFill>
              </a:defRPr>
            </a:pPr>
            <a:r>
              <a:t>PREGUNTA DE INVESTIGACIÓN FORMULADA:</a:t>
            </a:r>
          </a:p>
          <a:p>
            <a:pPr>
              <a:spcBef>
                <a:spcPts val="300"/>
              </a:spcBef>
              <a:defRPr sz="1200" b="1">
                <a:solidFill>
                  <a:srgbClr val="FFFFFF"/>
                </a:solidFill>
              </a:defRPr>
            </a:pPr>
            <a:r>
              <a:t>¿De qué manera un sistema web inteligente integrado con una balanza camionera industrial puede mejorar el control del pesaje de vehículos y la gestión de producción agrícola en la empresa 'El Troje'?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1100" b="1">
                <a:solidFill>
                  <a:srgbClr val="059669"/>
                </a:solidFill>
              </a:defRPr>
            </a:pPr>
            <a:r>
              <a:t>2. ALCANCE Y METAS</a:t>
            </a:r>
          </a:p>
        </p:txBody>
      </p:sp>
      <p:sp>
        <p:nvSpPr>
          <p:cNvPr id="4" name="TextBox 3"/>
          <p:cNvSpPr txBox="1"/>
          <p:nvPr/>
        </p:nvSpPr>
        <p:spPr>
          <a:xfrm>
            <a:off x="731520" y="640080"/>
            <a:ext cx="7772400" cy="548640"/>
          </a:xfrm>
          <a:prstGeom prst="rect">
            <a:avLst/>
          </a:prstGeom>
          <a:noFill/>
        </p:spPr>
        <p:txBody>
          <a:bodyPr wrap="square" lIns="0" tIns="0" rIns="0" bIns="0">
            <a:spAutoFit/>
          </a:bodyPr>
          <a:lstStyle/>
          <a:p>
            <a:pPr>
              <a:defRPr sz="2200" b="1">
                <a:solidFill>
                  <a:srgbClr val="0F172A"/>
                </a:solidFill>
              </a:defRPr>
            </a:pPr>
            <a:r>
              <a:t>Objetivos del Proyecto</a:t>
            </a:r>
          </a:p>
        </p:txBody>
      </p:sp>
      <p:sp>
        <p:nvSpPr>
          <p:cNvPr id="5" name="Rounded Rectangle 4"/>
          <p:cNvSpPr/>
          <p:nvPr/>
        </p:nvSpPr>
        <p:spPr>
          <a:xfrm>
            <a:off x="8168335" y="411480"/>
            <a:ext cx="3291840" cy="594360"/>
          </a:xfrm>
          <a:prstGeom prst="round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0369A1"/>
                </a:solidFill>
              </a:defRPr>
            </a:pPr>
            <a:r>
              <a:t>👤 Angel Aucancela</a:t>
            </a:r>
          </a:p>
          <a:p>
            <a:pPr algn="ctr">
              <a:defRPr sz="950">
                <a:solidFill>
                  <a:srgbClr val="0369A1"/>
                </a:solidFill>
              </a:defRPr>
            </a:pPr>
            <a:r>
              <a:t>⏱️ 1:45 - 2:45 (60 seg)</a:t>
            </a:r>
          </a:p>
        </p:txBody>
      </p:sp>
      <p:sp>
        <p:nvSpPr>
          <p:cNvPr id="6" name="Rounded Rectangle 5"/>
          <p:cNvSpPr/>
          <p:nvPr/>
        </p:nvSpPr>
        <p:spPr>
          <a:xfrm>
            <a:off x="731520" y="1463040"/>
            <a:ext cx="502920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014925"/>
            <a:ext cx="4480560" cy="4389120"/>
          </a:xfrm>
          <a:prstGeom prst="rect">
            <a:avLst/>
          </a:prstGeom>
          <a:noFill/>
        </p:spPr>
        <p:txBody>
          <a:bodyPr wrap="square">
            <a:spAutoFit/>
          </a:bodyPr>
          <a:lstStyle/>
          <a:p>
            <a:pPr>
              <a:defRPr sz="1500" b="1">
                <a:solidFill>
                  <a:srgbClr val="047857"/>
                </a:solidFill>
              </a:defRPr>
            </a:pPr>
            <a:r>
              <a:rPr dirty="0"/>
              <a:t>🎯 OBJETIVO GENERAL</a:t>
            </a:r>
          </a:p>
          <a:p>
            <a:pPr>
              <a:spcBef>
                <a:spcPts val="1400"/>
              </a:spcBef>
              <a:defRPr sz="1300">
                <a:solidFill>
                  <a:srgbClr val="1E293B"/>
                </a:solidFill>
              </a:defRPr>
            </a:pPr>
            <a:r>
              <a:rPr dirty="0" err="1"/>
              <a:t>Desarrollar</a:t>
            </a:r>
            <a:r>
              <a:rPr dirty="0"/>
              <a:t> un </a:t>
            </a:r>
            <a:r>
              <a:rPr dirty="0" err="1"/>
              <a:t>sistema</a:t>
            </a:r>
            <a:r>
              <a:rPr dirty="0"/>
              <a:t> web </a:t>
            </a:r>
            <a:r>
              <a:rPr dirty="0" err="1"/>
              <a:t>que</a:t>
            </a:r>
            <a:r>
              <a:rPr dirty="0"/>
              <a:t> </a:t>
            </a:r>
            <a:r>
              <a:rPr dirty="0" err="1"/>
              <a:t>automatice</a:t>
            </a:r>
            <a:r>
              <a:rPr dirty="0"/>
              <a:t> el </a:t>
            </a:r>
            <a:r>
              <a:rPr dirty="0" err="1"/>
              <a:t>pesaje</a:t>
            </a:r>
            <a:r>
              <a:rPr dirty="0"/>
              <a:t> y control de </a:t>
            </a:r>
            <a:r>
              <a:rPr dirty="0" err="1"/>
              <a:t>vehículos</a:t>
            </a:r>
            <a:r>
              <a:rPr dirty="0"/>
              <a:t> </a:t>
            </a:r>
            <a:r>
              <a:rPr dirty="0" err="1"/>
              <a:t>en</a:t>
            </a:r>
            <a:r>
              <a:rPr dirty="0"/>
              <a:t> la </a:t>
            </a:r>
            <a:r>
              <a:rPr dirty="0" err="1"/>
              <a:t>balanza</a:t>
            </a:r>
            <a:r>
              <a:rPr dirty="0"/>
              <a:t> </a:t>
            </a:r>
            <a:r>
              <a:rPr dirty="0" err="1"/>
              <a:t>camionera</a:t>
            </a:r>
            <a:r>
              <a:rPr dirty="0"/>
              <a:t> de la </a:t>
            </a:r>
            <a:r>
              <a:rPr dirty="0" err="1"/>
              <a:t>empresa</a:t>
            </a:r>
            <a:r>
              <a:rPr dirty="0"/>
              <a:t> 'El Troje', </a:t>
            </a:r>
            <a:r>
              <a:rPr dirty="0" err="1"/>
              <a:t>mediante</a:t>
            </a:r>
            <a:r>
              <a:rPr dirty="0"/>
              <a:t> la </a:t>
            </a:r>
            <a:r>
              <a:rPr dirty="0" err="1"/>
              <a:t>integración</a:t>
            </a:r>
            <a:r>
              <a:rPr dirty="0"/>
              <a:t> de </a:t>
            </a:r>
            <a:r>
              <a:rPr dirty="0" err="1"/>
              <a:t>una</a:t>
            </a:r>
            <a:r>
              <a:rPr dirty="0"/>
              <a:t> </a:t>
            </a:r>
            <a:r>
              <a:rPr dirty="0" err="1"/>
              <a:t>balanza</a:t>
            </a:r>
            <a:r>
              <a:rPr dirty="0"/>
              <a:t> </a:t>
            </a:r>
            <a:r>
              <a:rPr dirty="0" err="1"/>
              <a:t>camionera</a:t>
            </a:r>
            <a:r>
              <a:rPr dirty="0"/>
              <a:t> industrial Mettler Toledo IND780 </a:t>
            </a:r>
            <a:r>
              <a:rPr dirty="0" err="1"/>
              <a:t>por</a:t>
            </a:r>
            <a:r>
              <a:rPr dirty="0"/>
              <a:t> </a:t>
            </a:r>
            <a:r>
              <a:rPr dirty="0" err="1"/>
              <a:t>comunicación</a:t>
            </a:r>
            <a:r>
              <a:rPr dirty="0"/>
              <a:t> Ethernet TCP/IP, </a:t>
            </a:r>
            <a:r>
              <a:rPr dirty="0" err="1"/>
              <a:t>registrando</a:t>
            </a:r>
            <a:r>
              <a:rPr dirty="0"/>
              <a:t> </a:t>
            </a:r>
            <a:r>
              <a:rPr dirty="0" err="1"/>
              <a:t>una</a:t>
            </a:r>
            <a:r>
              <a:rPr dirty="0"/>
              <a:t> </a:t>
            </a:r>
            <a:r>
              <a:rPr dirty="0" err="1"/>
              <a:t>auditoría</a:t>
            </a:r>
            <a:r>
              <a:rPr dirty="0"/>
              <a:t> integral y </a:t>
            </a:r>
            <a:r>
              <a:rPr dirty="0" err="1"/>
              <a:t>generando</a:t>
            </a:r>
            <a:r>
              <a:rPr dirty="0"/>
              <a:t> </a:t>
            </a:r>
            <a:r>
              <a:rPr dirty="0" err="1"/>
              <a:t>reportes</a:t>
            </a:r>
            <a:r>
              <a:rPr dirty="0"/>
              <a:t> de </a:t>
            </a:r>
            <a:r>
              <a:rPr dirty="0" err="1"/>
              <a:t>trazabilidad</a:t>
            </a:r>
            <a:r>
              <a:rPr dirty="0"/>
              <a:t> para </a:t>
            </a:r>
            <a:r>
              <a:rPr dirty="0" err="1"/>
              <a:t>elevar</a:t>
            </a:r>
            <a:r>
              <a:rPr dirty="0"/>
              <a:t> la </a:t>
            </a:r>
            <a:r>
              <a:rPr dirty="0" err="1"/>
              <a:t>confiabilidad</a:t>
            </a:r>
            <a:r>
              <a:rPr dirty="0"/>
              <a:t> </a:t>
            </a:r>
            <a:r>
              <a:rPr dirty="0" err="1"/>
              <a:t>operativa</a:t>
            </a:r>
            <a:r>
              <a:rPr dirty="0"/>
              <a:t> y </a:t>
            </a:r>
            <a:r>
              <a:rPr dirty="0" err="1"/>
              <a:t>respaldar</a:t>
            </a:r>
            <a:r>
              <a:rPr dirty="0"/>
              <a:t> la </a:t>
            </a:r>
            <a:r>
              <a:rPr dirty="0" err="1"/>
              <a:t>toma</a:t>
            </a:r>
            <a:r>
              <a:rPr dirty="0"/>
              <a:t> de </a:t>
            </a:r>
            <a:r>
              <a:rPr dirty="0" err="1"/>
              <a:t>decisiones</a:t>
            </a:r>
            <a:r>
              <a:rPr dirty="0"/>
              <a:t>.</a:t>
            </a:r>
          </a:p>
        </p:txBody>
      </p:sp>
      <p:sp>
        <p:nvSpPr>
          <p:cNvPr id="8" name="Rounded Rectangle 7"/>
          <p:cNvSpPr/>
          <p:nvPr/>
        </p:nvSpPr>
        <p:spPr>
          <a:xfrm>
            <a:off x="1005840" y="4297680"/>
            <a:ext cx="4480560" cy="1645920"/>
          </a:xfrm>
          <a:prstGeom prst="roundRect">
            <a:avLst/>
          </a:prstGeom>
          <a:solidFill>
            <a:srgbClr val="D1FAE5"/>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4840421"/>
            <a:ext cx="4206240" cy="1463040"/>
          </a:xfrm>
          <a:prstGeom prst="rect">
            <a:avLst/>
          </a:prstGeom>
          <a:noFill/>
        </p:spPr>
        <p:txBody>
          <a:bodyPr wrap="square">
            <a:spAutoFit/>
          </a:bodyPr>
          <a:lstStyle/>
          <a:p>
            <a:pPr>
              <a:defRPr sz="1100" b="1">
                <a:solidFill>
                  <a:srgbClr val="047857"/>
                </a:solidFill>
              </a:defRPr>
            </a:pPr>
            <a:r>
              <a:rPr dirty="0"/>
              <a:t>PROPÓSITO DE VALOR</a:t>
            </a:r>
          </a:p>
          <a:p>
            <a:pPr>
              <a:spcBef>
                <a:spcPts val="400"/>
              </a:spcBef>
              <a:defRPr sz="1100">
                <a:solidFill>
                  <a:srgbClr val="0F172A"/>
                </a:solidFill>
              </a:defRPr>
            </a:pPr>
            <a:r>
              <a:rPr dirty="0" err="1"/>
              <a:t>Eliminar</a:t>
            </a:r>
            <a:r>
              <a:rPr dirty="0"/>
              <a:t> al 100% el error </a:t>
            </a:r>
            <a:r>
              <a:rPr dirty="0" err="1"/>
              <a:t>humano</a:t>
            </a:r>
            <a:r>
              <a:rPr dirty="0"/>
              <a:t> de </a:t>
            </a:r>
            <a:r>
              <a:rPr dirty="0" err="1"/>
              <a:t>digitación</a:t>
            </a:r>
            <a:r>
              <a:rPr dirty="0"/>
              <a:t>, </a:t>
            </a:r>
            <a:r>
              <a:rPr dirty="0" err="1"/>
              <a:t>garantizar</a:t>
            </a:r>
            <a:r>
              <a:rPr dirty="0"/>
              <a:t> </a:t>
            </a:r>
            <a:r>
              <a:rPr dirty="0" err="1"/>
              <a:t>auditoría</a:t>
            </a:r>
            <a:r>
              <a:rPr dirty="0"/>
              <a:t> </a:t>
            </a:r>
            <a:r>
              <a:rPr dirty="0" err="1"/>
              <a:t>forense</a:t>
            </a:r>
            <a:r>
              <a:rPr dirty="0"/>
              <a:t> de </a:t>
            </a:r>
            <a:r>
              <a:rPr dirty="0" err="1"/>
              <a:t>cada</a:t>
            </a:r>
            <a:r>
              <a:rPr dirty="0"/>
              <a:t> </a:t>
            </a:r>
            <a:r>
              <a:rPr dirty="0" err="1"/>
              <a:t>pesaje</a:t>
            </a:r>
            <a:r>
              <a:rPr dirty="0"/>
              <a:t> y </a:t>
            </a:r>
            <a:r>
              <a:rPr dirty="0" err="1"/>
              <a:t>habilitar</a:t>
            </a:r>
            <a:r>
              <a:rPr dirty="0"/>
              <a:t> </a:t>
            </a:r>
            <a:r>
              <a:rPr dirty="0" err="1"/>
              <a:t>analítica</a:t>
            </a:r>
            <a:r>
              <a:rPr dirty="0"/>
              <a:t> </a:t>
            </a:r>
            <a:r>
              <a:rPr dirty="0" err="1"/>
              <a:t>predictiva</a:t>
            </a:r>
            <a:r>
              <a:rPr dirty="0"/>
              <a:t> </a:t>
            </a:r>
            <a:r>
              <a:rPr dirty="0" err="1"/>
              <a:t>en</a:t>
            </a:r>
            <a:r>
              <a:rPr dirty="0"/>
              <a:t> la </a:t>
            </a:r>
            <a:r>
              <a:rPr dirty="0" err="1"/>
              <a:t>nube</a:t>
            </a:r>
            <a:r>
              <a:rPr dirty="0"/>
              <a:t>.</a:t>
            </a:r>
          </a:p>
        </p:txBody>
      </p:sp>
      <p:sp>
        <p:nvSpPr>
          <p:cNvPr id="10" name="Rounded Rectangle 9"/>
          <p:cNvSpPr/>
          <p:nvPr/>
        </p:nvSpPr>
        <p:spPr>
          <a:xfrm>
            <a:off x="6035040" y="1463040"/>
            <a:ext cx="5394960" cy="111556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0" y="1723644"/>
            <a:ext cx="5029200" cy="914400"/>
          </a:xfrm>
          <a:prstGeom prst="rect">
            <a:avLst/>
          </a:prstGeom>
          <a:noFill/>
        </p:spPr>
        <p:txBody>
          <a:bodyPr wrap="square">
            <a:spAutoFit/>
          </a:bodyPr>
          <a:lstStyle/>
          <a:p>
            <a:pPr>
              <a:defRPr sz="1250" b="1">
                <a:solidFill>
                  <a:srgbClr val="0284C7"/>
                </a:solidFill>
              </a:defRPr>
            </a:pPr>
            <a:r>
              <a:rPr dirty="0"/>
              <a:t>1. </a:t>
            </a:r>
            <a:r>
              <a:rPr dirty="0" err="1"/>
              <a:t>Interfaz</a:t>
            </a:r>
            <a:r>
              <a:rPr dirty="0"/>
              <a:t> Web Moderna</a:t>
            </a:r>
          </a:p>
          <a:p>
            <a:pPr>
              <a:spcBef>
                <a:spcPts val="200"/>
              </a:spcBef>
              <a:defRPr sz="1100">
                <a:solidFill>
                  <a:srgbClr val="0F172A"/>
                </a:solidFill>
              </a:defRPr>
            </a:pPr>
            <a:r>
              <a:rPr dirty="0" err="1"/>
              <a:t>Diseñar</a:t>
            </a:r>
            <a:r>
              <a:rPr dirty="0"/>
              <a:t> </a:t>
            </a:r>
            <a:r>
              <a:rPr dirty="0" err="1"/>
              <a:t>una</a:t>
            </a:r>
            <a:r>
              <a:rPr dirty="0"/>
              <a:t> UI </a:t>
            </a:r>
            <a:r>
              <a:rPr dirty="0" err="1"/>
              <a:t>amigable</a:t>
            </a:r>
            <a:r>
              <a:rPr dirty="0"/>
              <a:t>, </a:t>
            </a:r>
            <a:r>
              <a:rPr dirty="0" err="1"/>
              <a:t>reactiva</a:t>
            </a:r>
            <a:r>
              <a:rPr dirty="0"/>
              <a:t> y </a:t>
            </a:r>
            <a:r>
              <a:rPr dirty="0" err="1"/>
              <a:t>accesible</a:t>
            </a:r>
            <a:r>
              <a:rPr dirty="0"/>
              <a:t> </a:t>
            </a:r>
            <a:r>
              <a:rPr dirty="0" err="1"/>
              <a:t>desarrollada</a:t>
            </a:r>
            <a:r>
              <a:rPr dirty="0"/>
              <a:t> </a:t>
            </a:r>
            <a:r>
              <a:rPr dirty="0" err="1"/>
              <a:t>en</a:t>
            </a:r>
            <a:r>
              <a:rPr dirty="0"/>
              <a:t> Angular 19.</a:t>
            </a:r>
          </a:p>
        </p:txBody>
      </p:sp>
      <p:sp>
        <p:nvSpPr>
          <p:cNvPr id="12" name="Rounded Rectangle 11"/>
          <p:cNvSpPr/>
          <p:nvPr/>
        </p:nvSpPr>
        <p:spPr>
          <a:xfrm>
            <a:off x="6035040" y="2697480"/>
            <a:ext cx="5394960" cy="111556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0" y="3011326"/>
            <a:ext cx="5029200" cy="914400"/>
          </a:xfrm>
          <a:prstGeom prst="rect">
            <a:avLst/>
          </a:prstGeom>
          <a:noFill/>
        </p:spPr>
        <p:txBody>
          <a:bodyPr wrap="square">
            <a:spAutoFit/>
          </a:bodyPr>
          <a:lstStyle/>
          <a:p>
            <a:pPr>
              <a:defRPr sz="1250" b="1">
                <a:solidFill>
                  <a:srgbClr val="0284C7"/>
                </a:solidFill>
              </a:defRPr>
            </a:pPr>
            <a:r>
              <a:rPr dirty="0"/>
              <a:t>2. Doble </a:t>
            </a:r>
            <a:r>
              <a:rPr dirty="0" err="1"/>
              <a:t>Pesaje</a:t>
            </a:r>
            <a:r>
              <a:rPr dirty="0"/>
              <a:t> </a:t>
            </a:r>
            <a:r>
              <a:rPr dirty="0" err="1"/>
              <a:t>Automatizado</a:t>
            </a:r>
            <a:endParaRPr dirty="0"/>
          </a:p>
          <a:p>
            <a:pPr>
              <a:spcBef>
                <a:spcPts val="200"/>
              </a:spcBef>
              <a:defRPr sz="1100">
                <a:solidFill>
                  <a:srgbClr val="0F172A"/>
                </a:solidFill>
              </a:defRPr>
            </a:pPr>
            <a:r>
              <a:rPr dirty="0" err="1"/>
              <a:t>Implementar</a:t>
            </a:r>
            <a:r>
              <a:rPr dirty="0"/>
              <a:t> la </a:t>
            </a:r>
            <a:r>
              <a:rPr dirty="0" err="1"/>
              <a:t>captura</a:t>
            </a:r>
            <a:r>
              <a:rPr dirty="0"/>
              <a:t> </a:t>
            </a:r>
            <a:r>
              <a:rPr dirty="0" err="1"/>
              <a:t>en</a:t>
            </a:r>
            <a:r>
              <a:rPr dirty="0"/>
              <a:t> </a:t>
            </a:r>
            <a:r>
              <a:rPr dirty="0" err="1"/>
              <a:t>tiempo</a:t>
            </a:r>
            <a:r>
              <a:rPr dirty="0"/>
              <a:t> real de peso </a:t>
            </a:r>
            <a:r>
              <a:rPr dirty="0" err="1"/>
              <a:t>bruto</a:t>
            </a:r>
            <a:r>
              <a:rPr dirty="0"/>
              <a:t> (entrada) y </a:t>
            </a:r>
            <a:r>
              <a:rPr dirty="0" err="1"/>
              <a:t>tara</a:t>
            </a:r>
            <a:r>
              <a:rPr dirty="0"/>
              <a:t> (salida).</a:t>
            </a:r>
          </a:p>
        </p:txBody>
      </p:sp>
      <p:sp>
        <p:nvSpPr>
          <p:cNvPr id="14" name="Rounded Rectangle 13"/>
          <p:cNvSpPr/>
          <p:nvPr/>
        </p:nvSpPr>
        <p:spPr>
          <a:xfrm>
            <a:off x="6035040" y="3931920"/>
            <a:ext cx="5394960" cy="111556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17920" y="4209485"/>
            <a:ext cx="5029200" cy="914400"/>
          </a:xfrm>
          <a:prstGeom prst="rect">
            <a:avLst/>
          </a:prstGeom>
          <a:noFill/>
        </p:spPr>
        <p:txBody>
          <a:bodyPr wrap="square">
            <a:spAutoFit/>
          </a:bodyPr>
          <a:lstStyle/>
          <a:p>
            <a:pPr>
              <a:defRPr sz="1250" b="1">
                <a:solidFill>
                  <a:srgbClr val="0284C7"/>
                </a:solidFill>
              </a:defRPr>
            </a:pPr>
            <a:r>
              <a:rPr dirty="0"/>
              <a:t>3. </a:t>
            </a:r>
            <a:r>
              <a:rPr dirty="0" err="1"/>
              <a:t>Integración</a:t>
            </a:r>
            <a:r>
              <a:rPr dirty="0"/>
              <a:t> Socket Ethernet</a:t>
            </a:r>
          </a:p>
          <a:p>
            <a:pPr>
              <a:spcBef>
                <a:spcPts val="200"/>
              </a:spcBef>
              <a:defRPr sz="1100">
                <a:solidFill>
                  <a:srgbClr val="0F172A"/>
                </a:solidFill>
              </a:defRPr>
            </a:pPr>
            <a:r>
              <a:rPr dirty="0" err="1"/>
              <a:t>Conectar</a:t>
            </a:r>
            <a:r>
              <a:rPr dirty="0"/>
              <a:t> el </a:t>
            </a:r>
            <a:r>
              <a:rPr dirty="0" err="1"/>
              <a:t>indicador</a:t>
            </a:r>
            <a:r>
              <a:rPr dirty="0"/>
              <a:t> industrial Mettler Toledo IND780 </a:t>
            </a:r>
            <a:r>
              <a:rPr dirty="0" err="1"/>
              <a:t>vía</a:t>
            </a:r>
            <a:r>
              <a:rPr dirty="0"/>
              <a:t> socket TCP/IP continuo.</a:t>
            </a:r>
          </a:p>
        </p:txBody>
      </p:sp>
      <p:sp>
        <p:nvSpPr>
          <p:cNvPr id="16" name="Rounded Rectangle 15"/>
          <p:cNvSpPr/>
          <p:nvPr/>
        </p:nvSpPr>
        <p:spPr>
          <a:xfrm>
            <a:off x="6035040" y="5166360"/>
            <a:ext cx="5394960" cy="1115568"/>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5353861"/>
            <a:ext cx="5029200" cy="914400"/>
          </a:xfrm>
          <a:prstGeom prst="rect">
            <a:avLst/>
          </a:prstGeom>
          <a:noFill/>
        </p:spPr>
        <p:txBody>
          <a:bodyPr wrap="square">
            <a:spAutoFit/>
          </a:bodyPr>
          <a:lstStyle/>
          <a:p>
            <a:pPr>
              <a:defRPr sz="1250" b="1">
                <a:solidFill>
                  <a:srgbClr val="0284C7"/>
                </a:solidFill>
              </a:defRPr>
            </a:pPr>
            <a:r>
              <a:rPr dirty="0"/>
              <a:t>4. </a:t>
            </a:r>
            <a:r>
              <a:rPr dirty="0" err="1"/>
              <a:t>Auditoría</a:t>
            </a:r>
            <a:r>
              <a:rPr dirty="0"/>
              <a:t> y </a:t>
            </a:r>
            <a:r>
              <a:rPr dirty="0" err="1"/>
              <a:t>Analítica</a:t>
            </a:r>
            <a:r>
              <a:rPr dirty="0"/>
              <a:t> BI</a:t>
            </a:r>
          </a:p>
          <a:p>
            <a:pPr>
              <a:spcBef>
                <a:spcPts val="200"/>
              </a:spcBef>
              <a:defRPr sz="1100">
                <a:solidFill>
                  <a:srgbClr val="0F172A"/>
                </a:solidFill>
              </a:defRPr>
            </a:pPr>
            <a:r>
              <a:rPr dirty="0"/>
              <a:t>Registrar </a:t>
            </a:r>
            <a:r>
              <a:rPr dirty="0" err="1"/>
              <a:t>bitácora</a:t>
            </a:r>
            <a:r>
              <a:rPr dirty="0"/>
              <a:t> </a:t>
            </a:r>
            <a:r>
              <a:rPr dirty="0" err="1"/>
              <a:t>transaccional</a:t>
            </a:r>
            <a:r>
              <a:rPr dirty="0"/>
              <a:t> (IP/</a:t>
            </a:r>
            <a:r>
              <a:rPr dirty="0" err="1"/>
              <a:t>usuario</a:t>
            </a:r>
            <a:r>
              <a:rPr dirty="0"/>
              <a:t>/</a:t>
            </a:r>
            <a:r>
              <a:rPr dirty="0" err="1"/>
              <a:t>fecha</a:t>
            </a:r>
            <a:r>
              <a:rPr dirty="0"/>
              <a:t>) y </a:t>
            </a:r>
            <a:r>
              <a:rPr dirty="0" err="1"/>
              <a:t>generar</a:t>
            </a:r>
            <a:r>
              <a:rPr dirty="0"/>
              <a:t> </a:t>
            </a:r>
            <a:r>
              <a:rPr dirty="0" err="1"/>
              <a:t>cubos</a:t>
            </a:r>
            <a:r>
              <a:rPr dirty="0"/>
              <a:t> OLAP con </a:t>
            </a:r>
            <a:r>
              <a:rPr dirty="0" err="1"/>
              <a:t>asistente</a:t>
            </a:r>
            <a:r>
              <a:rPr dirty="0"/>
              <a:t> 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1100" b="1">
                <a:solidFill>
                  <a:srgbClr val="059669"/>
                </a:solidFill>
              </a:defRPr>
            </a:pPr>
            <a:r>
              <a:t>3. INGENIERÍA Y DISEÑO</a:t>
            </a:r>
          </a:p>
        </p:txBody>
      </p:sp>
      <p:sp>
        <p:nvSpPr>
          <p:cNvPr id="4" name="TextBox 3"/>
          <p:cNvSpPr txBox="1"/>
          <p:nvPr/>
        </p:nvSpPr>
        <p:spPr>
          <a:xfrm>
            <a:off x="731520" y="640080"/>
            <a:ext cx="7772400" cy="548640"/>
          </a:xfrm>
          <a:prstGeom prst="rect">
            <a:avLst/>
          </a:prstGeom>
          <a:noFill/>
        </p:spPr>
        <p:txBody>
          <a:bodyPr wrap="square" lIns="0" tIns="0" rIns="0" bIns="0">
            <a:spAutoFit/>
          </a:bodyPr>
          <a:lstStyle/>
          <a:p>
            <a:pPr>
              <a:defRPr sz="2200" b="1">
                <a:solidFill>
                  <a:srgbClr val="0F172A"/>
                </a:solidFill>
              </a:defRPr>
            </a:pPr>
            <a:r>
              <a:t>Arquitectura del Sistema en 5 Capas</a:t>
            </a:r>
          </a:p>
        </p:txBody>
      </p:sp>
      <p:sp>
        <p:nvSpPr>
          <p:cNvPr id="5" name="Rounded Rectangle 4"/>
          <p:cNvSpPr/>
          <p:nvPr/>
        </p:nvSpPr>
        <p:spPr>
          <a:xfrm>
            <a:off x="8168335" y="411480"/>
            <a:ext cx="3291840" cy="594360"/>
          </a:xfrm>
          <a:prstGeom prst="round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0369A1"/>
                </a:solidFill>
              </a:defRPr>
            </a:pPr>
            <a:r>
              <a:t>👤 Angel Aucancela ➡️ Felipe Ricaurte</a:t>
            </a:r>
          </a:p>
          <a:p>
            <a:pPr algn="ctr">
              <a:defRPr sz="950">
                <a:solidFill>
                  <a:srgbClr val="0369A1"/>
                </a:solidFill>
              </a:defRPr>
            </a:pPr>
            <a:r>
              <a:t>⏱️ 2:45 - 4:00 (75 seg)</a:t>
            </a:r>
          </a:p>
        </p:txBody>
      </p:sp>
      <p:sp>
        <p:nvSpPr>
          <p:cNvPr id="6" name="Rounded Rectangle 5"/>
          <p:cNvSpPr/>
          <p:nvPr/>
        </p:nvSpPr>
        <p:spPr>
          <a:xfrm>
            <a:off x="731520" y="1371600"/>
            <a:ext cx="10728655" cy="749808"/>
          </a:xfrm>
          <a:prstGeom prst="roundRect">
            <a:avLst/>
          </a:prstGeom>
          <a:solidFill>
            <a:srgbClr val="F0F9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371600"/>
            <a:ext cx="109728" cy="74980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463040"/>
            <a:ext cx="10241280" cy="594360"/>
          </a:xfrm>
          <a:prstGeom prst="rect">
            <a:avLst/>
          </a:prstGeom>
          <a:noFill/>
        </p:spPr>
        <p:txBody>
          <a:bodyPr wrap="square">
            <a:spAutoFit/>
          </a:bodyPr>
          <a:lstStyle/>
          <a:p>
            <a:pPr>
              <a:defRPr sz="1150" b="1">
                <a:solidFill>
                  <a:srgbClr val="0284C7"/>
                </a:solidFill>
              </a:defRPr>
            </a:pPr>
            <a:r>
              <a:t>1. CAPA DE PRESENTACIÓN</a:t>
            </a:r>
          </a:p>
          <a:p>
            <a:pPr>
              <a:spcBef>
                <a:spcPts val="200"/>
              </a:spcBef>
              <a:defRPr sz="1050">
                <a:solidFill>
                  <a:srgbClr val="0F172A"/>
                </a:solidFill>
              </a:defRPr>
            </a:pPr>
            <a:r>
              <a:t>Angular 19 (Standalone Components, Signals reactivos, Tailwind CSS)</a:t>
            </a:r>
          </a:p>
        </p:txBody>
      </p:sp>
      <p:sp>
        <p:nvSpPr>
          <p:cNvPr id="9" name="Rounded Rectangle 8"/>
          <p:cNvSpPr/>
          <p:nvPr/>
        </p:nvSpPr>
        <p:spPr>
          <a:xfrm>
            <a:off x="731520" y="2240280"/>
            <a:ext cx="10728655" cy="749808"/>
          </a:xfrm>
          <a:prstGeom prst="roundRect">
            <a:avLst/>
          </a:prstGeom>
          <a:solidFill>
            <a:srgbClr val="FAF5FF"/>
          </a:solidFill>
          <a:ln w="1524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2240280"/>
            <a:ext cx="109728" cy="749808"/>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2331720"/>
            <a:ext cx="10241280" cy="594360"/>
          </a:xfrm>
          <a:prstGeom prst="rect">
            <a:avLst/>
          </a:prstGeom>
          <a:noFill/>
        </p:spPr>
        <p:txBody>
          <a:bodyPr wrap="square">
            <a:spAutoFit/>
          </a:bodyPr>
          <a:lstStyle/>
          <a:p>
            <a:pPr>
              <a:defRPr sz="1150" b="1">
                <a:solidFill>
                  <a:srgbClr val="7E22CE"/>
                </a:solidFill>
              </a:defRPr>
            </a:pPr>
            <a:r>
              <a:t>2. CAPA DE SERVICIOS Y NEGOCIO</a:t>
            </a:r>
          </a:p>
          <a:p>
            <a:pPr>
              <a:spcBef>
                <a:spcPts val="200"/>
              </a:spcBef>
              <a:defRPr sz="1050">
                <a:solidFill>
                  <a:srgbClr val="0F172A"/>
                </a:solidFill>
              </a:defRPr>
            </a:pPr>
            <a:r>
              <a:t>API REST en .NET 10 C# (Patrón Repository, Unit of Work, Controladores desacoplados)</a:t>
            </a:r>
          </a:p>
        </p:txBody>
      </p:sp>
      <p:sp>
        <p:nvSpPr>
          <p:cNvPr id="12" name="Rounded Rectangle 11"/>
          <p:cNvSpPr/>
          <p:nvPr/>
        </p:nvSpPr>
        <p:spPr>
          <a:xfrm>
            <a:off x="731520" y="3108960"/>
            <a:ext cx="10728655" cy="749808"/>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3108960"/>
            <a:ext cx="109728" cy="7498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3200400"/>
            <a:ext cx="10241280" cy="594360"/>
          </a:xfrm>
          <a:prstGeom prst="rect">
            <a:avLst/>
          </a:prstGeom>
          <a:noFill/>
        </p:spPr>
        <p:txBody>
          <a:bodyPr wrap="square">
            <a:spAutoFit/>
          </a:bodyPr>
          <a:lstStyle/>
          <a:p>
            <a:pPr>
              <a:defRPr sz="1150" b="1">
                <a:solidFill>
                  <a:srgbClr val="D97706"/>
                </a:solidFill>
              </a:defRPr>
            </a:pPr>
            <a:r>
              <a:t>3. CAPA DE ACCESO A DATOS</a:t>
            </a:r>
          </a:p>
          <a:p>
            <a:pPr>
              <a:spcBef>
                <a:spcPts val="200"/>
              </a:spcBef>
              <a:defRPr sz="1050">
                <a:solidFill>
                  <a:srgbClr val="0F172A"/>
                </a:solidFill>
              </a:defRPr>
            </a:pPr>
            <a:r>
              <a:t>Dapper Micro-ORM (Consultas SQL optimizadas de ultra-baja latencia y alto rendimiento)</a:t>
            </a:r>
          </a:p>
        </p:txBody>
      </p:sp>
      <p:sp>
        <p:nvSpPr>
          <p:cNvPr id="15" name="Rounded Rectangle 14"/>
          <p:cNvSpPr/>
          <p:nvPr/>
        </p:nvSpPr>
        <p:spPr>
          <a:xfrm>
            <a:off x="731520" y="3977639"/>
            <a:ext cx="10728655" cy="749808"/>
          </a:xfrm>
          <a:prstGeom prst="roundRect">
            <a:avLst/>
          </a:prstGeom>
          <a:solidFill>
            <a:srgbClr val="ECFDF5"/>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31520" y="3977639"/>
            <a:ext cx="109728" cy="7498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4069079"/>
            <a:ext cx="10241280" cy="594360"/>
          </a:xfrm>
          <a:prstGeom prst="rect">
            <a:avLst/>
          </a:prstGeom>
          <a:noFill/>
        </p:spPr>
        <p:txBody>
          <a:bodyPr wrap="square">
            <a:spAutoFit/>
          </a:bodyPr>
          <a:lstStyle/>
          <a:p>
            <a:pPr>
              <a:defRPr sz="1150" b="1">
                <a:solidFill>
                  <a:srgbClr val="059669"/>
                </a:solidFill>
              </a:defRPr>
            </a:pPr>
            <a:r>
              <a:t>4. CAPA DE PERSISTENCIA Y ANALÍTICA</a:t>
            </a:r>
          </a:p>
          <a:p>
            <a:pPr>
              <a:spcBef>
                <a:spcPts val="200"/>
              </a:spcBef>
              <a:defRPr sz="1050">
                <a:solidFill>
                  <a:srgbClr val="0F172A"/>
                </a:solidFill>
              </a:defRPr>
            </a:pPr>
            <a:r>
              <a:t>SQL Server 2022 (Arquitectura híbrida: Transaccional OLTP 3NF + Data Warehouse OLAP Estrella)</a:t>
            </a:r>
          </a:p>
        </p:txBody>
      </p:sp>
      <p:sp>
        <p:nvSpPr>
          <p:cNvPr id="18" name="Rounded Rectangle 17"/>
          <p:cNvSpPr/>
          <p:nvPr/>
        </p:nvSpPr>
        <p:spPr>
          <a:xfrm>
            <a:off x="731520" y="4846320"/>
            <a:ext cx="10728655" cy="749808"/>
          </a:xfrm>
          <a:prstGeom prst="roundRect">
            <a:avLst/>
          </a:prstGeom>
          <a:solidFill>
            <a:srgbClr val="FFF1F2"/>
          </a:solidFill>
          <a:ln w="1524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1520" y="4846320"/>
            <a:ext cx="109728" cy="749808"/>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4937759"/>
            <a:ext cx="10241280" cy="594360"/>
          </a:xfrm>
          <a:prstGeom prst="rect">
            <a:avLst/>
          </a:prstGeom>
          <a:noFill/>
        </p:spPr>
        <p:txBody>
          <a:bodyPr wrap="square">
            <a:spAutoFit/>
          </a:bodyPr>
          <a:lstStyle/>
          <a:p>
            <a:pPr>
              <a:defRPr sz="1150" b="1">
                <a:solidFill>
                  <a:srgbClr val="E11D48"/>
                </a:solidFill>
              </a:defRPr>
            </a:pPr>
            <a:r>
              <a:t>5. CAPA DE HARDWARE INDUSTRIAL (IoT)</a:t>
            </a:r>
          </a:p>
          <a:p>
            <a:pPr>
              <a:spcBef>
                <a:spcPts val="200"/>
              </a:spcBef>
              <a:defRPr sz="1050">
                <a:solidFill>
                  <a:srgbClr val="0F172A"/>
                </a:solidFill>
              </a:defRPr>
            </a:pPr>
            <a:r>
              <a:t>Balanza Mettler Toledo IND780 (Socket Listener TCP/IP asíncrono, Protocolo Salida Continua)</a:t>
            </a:r>
          </a:p>
        </p:txBody>
      </p:sp>
      <p:sp>
        <p:nvSpPr>
          <p:cNvPr id="21" name="Rounded Rectangle 20"/>
          <p:cNvSpPr/>
          <p:nvPr/>
        </p:nvSpPr>
        <p:spPr>
          <a:xfrm>
            <a:off x="731520" y="5806440"/>
            <a:ext cx="10728655" cy="73152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5852160"/>
            <a:ext cx="10332720" cy="640080"/>
          </a:xfrm>
          <a:prstGeom prst="rect">
            <a:avLst/>
          </a:prstGeom>
          <a:noFill/>
        </p:spPr>
        <p:txBody>
          <a:bodyPr wrap="none">
            <a:spAutoFit/>
          </a:bodyPr>
          <a:lstStyle/>
          <a:p>
            <a:pPr>
              <a:defRPr sz="950" b="1">
                <a:solidFill>
                  <a:srgbClr val="34D399"/>
                </a:solidFill>
              </a:defRPr>
            </a:pPr>
            <a:r>
              <a:t>🔄 TRANSICIÓN DE EXPOSITOR:</a:t>
            </a:r>
          </a:p>
          <a:p>
            <a:pPr>
              <a:defRPr sz="1050" i="1">
                <a:solidFill>
                  <a:srgbClr val="FFFFFF"/>
                </a:solidFill>
              </a:defRPr>
            </a:pPr>
            <a:r>
              <a:t>Angel Aucancela: 'Para explicarnos en detalle la integración del Socket TCP/IP, el flujo de pesaje y la analítica con IA, se da paso al desarrollo técnico y analítica con IA (Felipe Ricaurte).'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1100" b="1">
                <a:solidFill>
                  <a:srgbClr val="059669"/>
                </a:solidFill>
              </a:defRPr>
            </a:pPr>
            <a:r>
              <a:t>4. HARDWARE &amp; IOT</a:t>
            </a:r>
          </a:p>
        </p:txBody>
      </p:sp>
      <p:sp>
        <p:nvSpPr>
          <p:cNvPr id="4" name="TextBox 3"/>
          <p:cNvSpPr txBox="1"/>
          <p:nvPr/>
        </p:nvSpPr>
        <p:spPr>
          <a:xfrm>
            <a:off x="731520" y="640080"/>
            <a:ext cx="7772400" cy="548640"/>
          </a:xfrm>
          <a:prstGeom prst="rect">
            <a:avLst/>
          </a:prstGeom>
          <a:noFill/>
        </p:spPr>
        <p:txBody>
          <a:bodyPr wrap="square" lIns="0" tIns="0" rIns="0" bIns="0">
            <a:spAutoFit/>
          </a:bodyPr>
          <a:lstStyle/>
          <a:p>
            <a:pPr>
              <a:defRPr sz="2200" b="1">
                <a:solidFill>
                  <a:srgbClr val="0F172A"/>
                </a:solidFill>
              </a:defRPr>
            </a:pPr>
            <a:r>
              <a:t>Integración Industrial: Mettler Toledo IND780</a:t>
            </a:r>
          </a:p>
        </p:txBody>
      </p:sp>
      <p:sp>
        <p:nvSpPr>
          <p:cNvPr id="5" name="Rounded Rectangle 4"/>
          <p:cNvSpPr/>
          <p:nvPr/>
        </p:nvSpPr>
        <p:spPr>
          <a:xfrm>
            <a:off x="8168335" y="411480"/>
            <a:ext cx="3291840" cy="594360"/>
          </a:xfrm>
          <a:prstGeom prst="roundRect">
            <a:avLst/>
          </a:prstGeom>
          <a:solidFill>
            <a:srgbClr val="D1FAE5"/>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047857"/>
                </a:solidFill>
              </a:defRPr>
            </a:pPr>
            <a:r>
              <a:t>👤 Felipe Ricaurte</a:t>
            </a:r>
          </a:p>
          <a:p>
            <a:pPr algn="ctr">
              <a:defRPr sz="950">
                <a:solidFill>
                  <a:srgbClr val="047857"/>
                </a:solidFill>
              </a:defRPr>
            </a:pPr>
            <a:r>
              <a:t>⏱️ 4:00 - 5:30 (90 seg)</a:t>
            </a:r>
          </a:p>
        </p:txBody>
      </p:sp>
      <p:sp>
        <p:nvSpPr>
          <p:cNvPr id="6" name="Rounded Rectangle 5"/>
          <p:cNvSpPr/>
          <p:nvPr/>
        </p:nvSpPr>
        <p:spPr>
          <a:xfrm>
            <a:off x="731520" y="146304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868070"/>
            <a:ext cx="4663440" cy="4389120"/>
          </a:xfrm>
          <a:prstGeom prst="rect">
            <a:avLst/>
          </a:prstGeom>
          <a:noFill/>
        </p:spPr>
        <p:txBody>
          <a:bodyPr wrap="square">
            <a:spAutoFit/>
          </a:bodyPr>
          <a:lstStyle/>
          <a:p>
            <a:pPr>
              <a:defRPr sz="1400" b="1">
                <a:solidFill>
                  <a:srgbClr val="0284C7"/>
                </a:solidFill>
              </a:defRPr>
            </a:pPr>
            <a:r>
              <a:rPr dirty="0"/>
              <a:t>⚡ PROTOCOLO Y COMUNICACIÓN TCP/IP</a:t>
            </a:r>
          </a:p>
          <a:p>
            <a:pPr>
              <a:spcBef>
                <a:spcPts val="1000"/>
              </a:spcBef>
              <a:defRPr sz="1100">
                <a:solidFill>
                  <a:srgbClr val="1E293B"/>
                </a:solidFill>
              </a:defRPr>
            </a:pPr>
            <a:r>
              <a:rPr dirty="0"/>
              <a:t>• </a:t>
            </a:r>
            <a:r>
              <a:rPr dirty="0" err="1"/>
              <a:t>Comunicación</a:t>
            </a:r>
            <a:r>
              <a:rPr dirty="0"/>
              <a:t> Ethernet: Supera las </a:t>
            </a:r>
            <a:r>
              <a:rPr dirty="0" err="1"/>
              <a:t>limitaciones</a:t>
            </a:r>
            <a:r>
              <a:rPr dirty="0"/>
              <a:t> del </a:t>
            </a:r>
            <a:r>
              <a:rPr dirty="0" err="1"/>
              <a:t>puerto</a:t>
            </a:r>
            <a:r>
              <a:rPr dirty="0"/>
              <a:t> serial RS-232, </a:t>
            </a:r>
            <a:r>
              <a:rPr dirty="0" err="1"/>
              <a:t>permitiendo</a:t>
            </a:r>
            <a:r>
              <a:rPr dirty="0"/>
              <a:t> </a:t>
            </a:r>
            <a:r>
              <a:rPr dirty="0" err="1"/>
              <a:t>arquitectura</a:t>
            </a:r>
            <a:r>
              <a:rPr dirty="0"/>
              <a:t> </a:t>
            </a:r>
            <a:r>
              <a:rPr dirty="0" err="1"/>
              <a:t>distribuida</a:t>
            </a:r>
            <a:r>
              <a:rPr dirty="0"/>
              <a:t> y </a:t>
            </a:r>
            <a:r>
              <a:rPr dirty="0" err="1"/>
              <a:t>monitoreo</a:t>
            </a:r>
            <a:r>
              <a:rPr dirty="0"/>
              <a:t> </a:t>
            </a:r>
            <a:r>
              <a:rPr dirty="0" err="1"/>
              <a:t>remoto</a:t>
            </a:r>
            <a:r>
              <a:rPr dirty="0"/>
              <a:t>.</a:t>
            </a:r>
          </a:p>
          <a:p>
            <a:pPr>
              <a:spcBef>
                <a:spcPts val="1000"/>
              </a:spcBef>
              <a:defRPr sz="1100">
                <a:solidFill>
                  <a:srgbClr val="1E293B"/>
                </a:solidFill>
              </a:defRPr>
            </a:pPr>
            <a:r>
              <a:rPr dirty="0"/>
              <a:t>• </a:t>
            </a:r>
            <a:r>
              <a:rPr dirty="0" err="1"/>
              <a:t>Protocolo</a:t>
            </a:r>
            <a:r>
              <a:rPr dirty="0"/>
              <a:t> Salida Continua: El terminal IND780 </a:t>
            </a:r>
            <a:r>
              <a:rPr dirty="0" err="1"/>
              <a:t>transmite</a:t>
            </a:r>
            <a:r>
              <a:rPr dirty="0"/>
              <a:t> </a:t>
            </a:r>
            <a:r>
              <a:rPr dirty="0" err="1"/>
              <a:t>tramas</a:t>
            </a:r>
            <a:r>
              <a:rPr dirty="0"/>
              <a:t> </a:t>
            </a:r>
            <a:r>
              <a:rPr dirty="0" err="1"/>
              <a:t>continuas</a:t>
            </a:r>
            <a:r>
              <a:rPr dirty="0"/>
              <a:t> a </a:t>
            </a:r>
            <a:r>
              <a:rPr dirty="0" err="1"/>
              <a:t>razón</a:t>
            </a:r>
            <a:r>
              <a:rPr dirty="0"/>
              <a:t> de 15 </a:t>
            </a:r>
            <a:r>
              <a:rPr dirty="0" err="1"/>
              <a:t>paquetes</a:t>
            </a:r>
            <a:r>
              <a:rPr dirty="0"/>
              <a:t> </a:t>
            </a:r>
            <a:r>
              <a:rPr dirty="0" err="1"/>
              <a:t>por</a:t>
            </a:r>
            <a:r>
              <a:rPr dirty="0"/>
              <a:t> </a:t>
            </a:r>
            <a:r>
              <a:rPr dirty="0" err="1"/>
              <a:t>segundo</a:t>
            </a:r>
            <a:r>
              <a:rPr dirty="0"/>
              <a:t> a </a:t>
            </a:r>
            <a:r>
              <a:rPr dirty="0" err="1"/>
              <a:t>través</a:t>
            </a:r>
            <a:r>
              <a:rPr dirty="0"/>
              <a:t> de un socket </a:t>
            </a:r>
            <a:r>
              <a:rPr dirty="0" err="1"/>
              <a:t>dedicado</a:t>
            </a:r>
            <a:r>
              <a:rPr dirty="0"/>
              <a:t>.</a:t>
            </a:r>
          </a:p>
          <a:p>
            <a:pPr>
              <a:spcBef>
                <a:spcPts val="1000"/>
              </a:spcBef>
              <a:defRPr sz="1100">
                <a:solidFill>
                  <a:srgbClr val="1E293B"/>
                </a:solidFill>
              </a:defRPr>
            </a:pPr>
            <a:r>
              <a:rPr dirty="0"/>
              <a:t>• Socket Listener </a:t>
            </a:r>
            <a:r>
              <a:rPr dirty="0" err="1"/>
              <a:t>Asíncrono</a:t>
            </a:r>
            <a:r>
              <a:rPr dirty="0"/>
              <a:t> (.NET 10): Servicio </a:t>
            </a:r>
            <a:r>
              <a:rPr dirty="0" err="1"/>
              <a:t>en</a:t>
            </a:r>
            <a:r>
              <a:rPr dirty="0"/>
              <a:t> </a:t>
            </a:r>
            <a:r>
              <a:rPr dirty="0" err="1"/>
              <a:t>segundo</a:t>
            </a:r>
            <a:r>
              <a:rPr dirty="0"/>
              <a:t> plano sin </a:t>
            </a:r>
            <a:r>
              <a:rPr dirty="0" err="1"/>
              <a:t>bloqueo</a:t>
            </a:r>
            <a:r>
              <a:rPr dirty="0"/>
              <a:t> de </a:t>
            </a:r>
            <a:r>
              <a:rPr dirty="0" err="1"/>
              <a:t>hilo</a:t>
            </a:r>
            <a:r>
              <a:rPr dirty="0"/>
              <a:t> (</a:t>
            </a:r>
            <a:r>
              <a:rPr dirty="0" err="1"/>
              <a:t>IHostedService</a:t>
            </a:r>
            <a:r>
              <a:rPr dirty="0"/>
              <a:t>), </a:t>
            </a:r>
            <a:r>
              <a:rPr dirty="0" err="1"/>
              <a:t>asegurando</a:t>
            </a:r>
            <a:r>
              <a:rPr dirty="0"/>
              <a:t> cero </a:t>
            </a:r>
            <a:r>
              <a:rPr dirty="0" err="1"/>
              <a:t>latencia</a:t>
            </a:r>
            <a:r>
              <a:rPr dirty="0"/>
              <a:t> </a:t>
            </a:r>
            <a:r>
              <a:rPr dirty="0" err="1"/>
              <a:t>en</a:t>
            </a:r>
            <a:r>
              <a:rPr dirty="0"/>
              <a:t> la UI.</a:t>
            </a:r>
          </a:p>
          <a:p>
            <a:pPr>
              <a:spcBef>
                <a:spcPts val="1000"/>
              </a:spcBef>
              <a:defRPr sz="1100">
                <a:solidFill>
                  <a:srgbClr val="1E293B"/>
                </a:solidFill>
              </a:defRPr>
            </a:pPr>
            <a:r>
              <a:rPr dirty="0"/>
              <a:t>• </a:t>
            </a:r>
            <a:r>
              <a:rPr dirty="0" err="1"/>
              <a:t>Patrón</a:t>
            </a:r>
            <a:r>
              <a:rPr dirty="0"/>
              <a:t> Adapter de Hardware: </a:t>
            </a:r>
            <a:r>
              <a:rPr dirty="0" err="1"/>
              <a:t>Desacopla</a:t>
            </a:r>
            <a:r>
              <a:rPr dirty="0"/>
              <a:t> el </a:t>
            </a:r>
            <a:r>
              <a:rPr dirty="0" err="1"/>
              <a:t>modelo</a:t>
            </a:r>
            <a:r>
              <a:rPr dirty="0"/>
              <a:t> de </a:t>
            </a:r>
            <a:r>
              <a:rPr dirty="0" err="1"/>
              <a:t>báscula</a:t>
            </a:r>
            <a:r>
              <a:rPr dirty="0"/>
              <a:t> </a:t>
            </a:r>
            <a:r>
              <a:rPr dirty="0" err="1"/>
              <a:t>permitiendo</a:t>
            </a:r>
            <a:r>
              <a:rPr dirty="0"/>
              <a:t> </a:t>
            </a:r>
            <a:r>
              <a:rPr dirty="0" err="1"/>
              <a:t>cambiar</a:t>
            </a:r>
            <a:r>
              <a:rPr dirty="0"/>
              <a:t> o </a:t>
            </a:r>
            <a:r>
              <a:rPr dirty="0" err="1"/>
              <a:t>añadir</a:t>
            </a:r>
            <a:r>
              <a:rPr dirty="0"/>
              <a:t> </a:t>
            </a:r>
            <a:r>
              <a:rPr dirty="0" err="1"/>
              <a:t>básculas</a:t>
            </a:r>
            <a:r>
              <a:rPr dirty="0"/>
              <a:t> sin </a:t>
            </a:r>
            <a:r>
              <a:rPr dirty="0" err="1"/>
              <a:t>modificar</a:t>
            </a:r>
            <a:r>
              <a:rPr dirty="0"/>
              <a:t> la </a:t>
            </a:r>
            <a:r>
              <a:rPr dirty="0" err="1"/>
              <a:t>lógica</a:t>
            </a:r>
            <a:r>
              <a:rPr dirty="0"/>
              <a:t> de </a:t>
            </a:r>
            <a:r>
              <a:rPr dirty="0" err="1"/>
              <a:t>negocio</a:t>
            </a:r>
            <a:r>
              <a:rPr dirty="0"/>
              <a:t>.</a:t>
            </a:r>
          </a:p>
        </p:txBody>
      </p:sp>
      <p:sp>
        <p:nvSpPr>
          <p:cNvPr id="8" name="Rounded Rectangle 7"/>
          <p:cNvSpPr/>
          <p:nvPr/>
        </p:nvSpPr>
        <p:spPr>
          <a:xfrm>
            <a:off x="6217920" y="1463040"/>
            <a:ext cx="5212080" cy="4846320"/>
          </a:xfrm>
          <a:prstGeom prst="roundRect">
            <a:avLst/>
          </a:prstGeom>
          <a:solidFill>
            <a:srgbClr val="F8FAFC"/>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2862171"/>
            <a:ext cx="4663440" cy="4389120"/>
          </a:xfrm>
          <a:prstGeom prst="rect">
            <a:avLst/>
          </a:prstGeom>
          <a:noFill/>
        </p:spPr>
        <p:txBody>
          <a:bodyPr wrap="square">
            <a:spAutoFit/>
          </a:bodyPr>
          <a:lstStyle/>
          <a:p>
            <a:pPr>
              <a:defRPr sz="1400" b="1">
                <a:solidFill>
                  <a:srgbClr val="047857"/>
                </a:solidFill>
              </a:defRPr>
            </a:pPr>
            <a:r>
              <a:rPr dirty="0"/>
              <a:t>🛡️ FILTRO Y VALIDACIÓN DE ESTABILIDAD</a:t>
            </a:r>
          </a:p>
          <a:p>
            <a:pPr>
              <a:spcBef>
                <a:spcPts val="800"/>
              </a:spcBef>
              <a:defRPr sz="1150" b="1">
                <a:solidFill>
                  <a:srgbClr val="0F172A"/>
                </a:solidFill>
              </a:defRPr>
            </a:pPr>
            <a:r>
              <a:rPr dirty="0" err="1"/>
              <a:t>Estructura</a:t>
            </a:r>
            <a:r>
              <a:rPr dirty="0"/>
              <a:t> de la Trama </a:t>
            </a:r>
            <a:r>
              <a:rPr dirty="0" err="1"/>
              <a:t>Recibida</a:t>
            </a:r>
            <a:r>
              <a:rPr dirty="0"/>
              <a:t>:</a:t>
            </a:r>
          </a:p>
          <a:p>
            <a:pPr>
              <a:spcBef>
                <a:spcPts val="400"/>
              </a:spcBef>
              <a:defRPr sz="1100" b="1">
                <a:solidFill>
                  <a:srgbClr val="B45309"/>
                </a:solidFill>
              </a:defRPr>
            </a:pPr>
            <a:r>
              <a:rPr dirty="0"/>
              <a:t>[STX] [STATUS: 'S'/'M'] [PESO: 24580.00] [UNIDAD: 'kg'] [ETX]</a:t>
            </a:r>
          </a:p>
          <a:p>
            <a:pPr>
              <a:spcBef>
                <a:spcPts val="800"/>
              </a:spcBef>
              <a:defRPr sz="1050">
                <a:solidFill>
                  <a:srgbClr val="1E293B"/>
                </a:solidFill>
              </a:defRPr>
            </a:pPr>
            <a:r>
              <a:rPr dirty="0"/>
              <a:t>✔ </a:t>
            </a:r>
            <a:r>
              <a:rPr dirty="0" err="1"/>
              <a:t>Validación</a:t>
            </a:r>
            <a:r>
              <a:rPr dirty="0"/>
              <a:t> de </a:t>
            </a:r>
            <a:r>
              <a:rPr dirty="0" err="1"/>
              <a:t>Estabilidad</a:t>
            </a:r>
            <a:r>
              <a:rPr dirty="0"/>
              <a:t> (Status = 'S'): El </a:t>
            </a:r>
            <a:r>
              <a:rPr dirty="0" err="1"/>
              <a:t>sistema</a:t>
            </a:r>
            <a:r>
              <a:rPr dirty="0"/>
              <a:t> </a:t>
            </a:r>
            <a:r>
              <a:rPr dirty="0" err="1"/>
              <a:t>descarta</a:t>
            </a:r>
            <a:r>
              <a:rPr dirty="0"/>
              <a:t> </a:t>
            </a:r>
            <a:r>
              <a:rPr dirty="0" err="1"/>
              <a:t>lecturas</a:t>
            </a:r>
            <a:r>
              <a:rPr dirty="0"/>
              <a:t> </a:t>
            </a:r>
            <a:r>
              <a:rPr dirty="0" err="1"/>
              <a:t>en</a:t>
            </a:r>
            <a:r>
              <a:rPr dirty="0"/>
              <a:t> </a:t>
            </a:r>
            <a:r>
              <a:rPr dirty="0" err="1"/>
              <a:t>movimiento</a:t>
            </a:r>
            <a:r>
              <a:rPr dirty="0"/>
              <a:t> (Status = 'M') </a:t>
            </a:r>
            <a:r>
              <a:rPr dirty="0" err="1"/>
              <a:t>mientras</a:t>
            </a:r>
            <a:r>
              <a:rPr dirty="0"/>
              <a:t> el </a:t>
            </a:r>
            <a:r>
              <a:rPr dirty="0" err="1"/>
              <a:t>camión</a:t>
            </a:r>
            <a:r>
              <a:rPr dirty="0"/>
              <a:t> se </a:t>
            </a:r>
            <a:r>
              <a:rPr dirty="0" err="1"/>
              <a:t>acomoda</a:t>
            </a:r>
            <a:r>
              <a:rPr dirty="0"/>
              <a:t>. Solo </a:t>
            </a:r>
            <a:r>
              <a:rPr dirty="0" err="1"/>
              <a:t>cuando</a:t>
            </a:r>
            <a:r>
              <a:rPr dirty="0"/>
              <a:t> la </a:t>
            </a:r>
            <a:r>
              <a:rPr dirty="0" err="1"/>
              <a:t>balanza</a:t>
            </a:r>
            <a:r>
              <a:rPr dirty="0"/>
              <a:t> </a:t>
            </a:r>
            <a:r>
              <a:rPr dirty="0" err="1"/>
              <a:t>marca</a:t>
            </a:r>
            <a:r>
              <a:rPr dirty="0"/>
              <a:t> 'Stable' se </a:t>
            </a:r>
            <a:r>
              <a:rPr dirty="0" err="1"/>
              <a:t>autoriza</a:t>
            </a:r>
            <a:r>
              <a:rPr dirty="0"/>
              <a:t> la </a:t>
            </a:r>
            <a:r>
              <a:rPr dirty="0" err="1"/>
              <a:t>captura</a:t>
            </a:r>
            <a:r>
              <a:rPr dirty="0"/>
              <a:t>.</a:t>
            </a:r>
          </a:p>
          <a:p>
            <a:pPr>
              <a:spcBef>
                <a:spcPts val="800"/>
              </a:spcBef>
              <a:defRPr sz="1050">
                <a:solidFill>
                  <a:srgbClr val="1E293B"/>
                </a:solidFill>
              </a:defRPr>
            </a:pPr>
            <a:r>
              <a:rPr dirty="0"/>
              <a:t>✔ </a:t>
            </a:r>
            <a:r>
              <a:rPr dirty="0" err="1"/>
              <a:t>Eliminación</a:t>
            </a:r>
            <a:r>
              <a:rPr dirty="0"/>
              <a:t> de </a:t>
            </a:r>
            <a:r>
              <a:rPr dirty="0" err="1"/>
              <a:t>Falsos</a:t>
            </a:r>
            <a:r>
              <a:rPr dirty="0"/>
              <a:t> Positivos: Evita entre un 30% y 40% de </a:t>
            </a:r>
            <a:r>
              <a:rPr dirty="0" err="1"/>
              <a:t>lecturas</a:t>
            </a:r>
            <a:r>
              <a:rPr dirty="0"/>
              <a:t> </a:t>
            </a:r>
            <a:r>
              <a:rPr dirty="0" err="1"/>
              <a:t>espurias</a:t>
            </a:r>
            <a:r>
              <a:rPr dirty="0"/>
              <a:t> </a:t>
            </a:r>
            <a:r>
              <a:rPr dirty="0" err="1"/>
              <a:t>producidas</a:t>
            </a:r>
            <a:r>
              <a:rPr dirty="0"/>
              <a:t> </a:t>
            </a:r>
            <a:r>
              <a:rPr dirty="0" err="1"/>
              <a:t>por</a:t>
            </a:r>
            <a:r>
              <a:rPr dirty="0"/>
              <a:t> </a:t>
            </a:r>
            <a:r>
              <a:rPr dirty="0" err="1"/>
              <a:t>vibraciones</a:t>
            </a:r>
            <a:r>
              <a:rPr dirty="0"/>
              <a:t> o </a:t>
            </a:r>
            <a:r>
              <a:rPr dirty="0" err="1"/>
              <a:t>viento</a:t>
            </a:r>
            <a:r>
              <a:rPr dirty="0"/>
              <a:t> (Fowler, 2023).</a:t>
            </a:r>
          </a:p>
          <a:p>
            <a:pPr>
              <a:spcBef>
                <a:spcPts val="800"/>
              </a:spcBef>
              <a:defRPr sz="1050">
                <a:solidFill>
                  <a:srgbClr val="1E293B"/>
                </a:solidFill>
              </a:defRPr>
            </a:pPr>
            <a:r>
              <a:rPr dirty="0"/>
              <a:t>✔ </a:t>
            </a:r>
            <a:r>
              <a:rPr dirty="0" err="1"/>
              <a:t>Trazabilidad</a:t>
            </a:r>
            <a:r>
              <a:rPr dirty="0"/>
              <a:t> </a:t>
            </a:r>
            <a:r>
              <a:rPr dirty="0" err="1"/>
              <a:t>Criptográfica</a:t>
            </a:r>
            <a:r>
              <a:rPr dirty="0"/>
              <a:t> / Hash: Cada </a:t>
            </a:r>
            <a:r>
              <a:rPr dirty="0" err="1"/>
              <a:t>lectura</a:t>
            </a:r>
            <a:r>
              <a:rPr dirty="0"/>
              <a:t> </a:t>
            </a:r>
            <a:r>
              <a:rPr dirty="0" err="1"/>
              <a:t>capturada</a:t>
            </a:r>
            <a:r>
              <a:rPr dirty="0"/>
              <a:t> genera </a:t>
            </a:r>
            <a:r>
              <a:rPr dirty="0" err="1"/>
              <a:t>una</a:t>
            </a:r>
            <a:r>
              <a:rPr dirty="0"/>
              <a:t> </a:t>
            </a:r>
            <a:r>
              <a:rPr dirty="0" err="1"/>
              <a:t>firma</a:t>
            </a:r>
            <a:r>
              <a:rPr dirty="0"/>
              <a:t> de </a:t>
            </a:r>
            <a:r>
              <a:rPr dirty="0" err="1"/>
              <a:t>auditoría</a:t>
            </a:r>
            <a:r>
              <a:rPr dirty="0"/>
              <a:t> </a:t>
            </a:r>
            <a:r>
              <a:rPr dirty="0" err="1"/>
              <a:t>vinculada</a:t>
            </a:r>
            <a:r>
              <a:rPr dirty="0"/>
              <a:t> al </a:t>
            </a:r>
            <a:r>
              <a:rPr dirty="0" err="1"/>
              <a:t>identificador</a:t>
            </a:r>
            <a:r>
              <a:rPr dirty="0"/>
              <a:t> de la </a:t>
            </a:r>
            <a:r>
              <a:rPr dirty="0" err="1"/>
              <a:t>báscula</a:t>
            </a:r>
            <a:r>
              <a:rPr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664" y="9832"/>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1100" b="1">
                <a:solidFill>
                  <a:srgbClr val="059669"/>
                </a:solidFill>
              </a:defRPr>
            </a:pPr>
            <a:r>
              <a:t>5. FUNCIONALIDAD Y DEMOSTRACIÓN</a:t>
            </a:r>
          </a:p>
        </p:txBody>
      </p:sp>
      <p:sp>
        <p:nvSpPr>
          <p:cNvPr id="4" name="TextBox 3"/>
          <p:cNvSpPr txBox="1"/>
          <p:nvPr/>
        </p:nvSpPr>
        <p:spPr>
          <a:xfrm>
            <a:off x="731520" y="640080"/>
            <a:ext cx="7772400" cy="548640"/>
          </a:xfrm>
          <a:prstGeom prst="rect">
            <a:avLst/>
          </a:prstGeom>
          <a:noFill/>
        </p:spPr>
        <p:txBody>
          <a:bodyPr wrap="square" lIns="0" tIns="0" rIns="0" bIns="0">
            <a:spAutoFit/>
          </a:bodyPr>
          <a:lstStyle/>
          <a:p>
            <a:pPr>
              <a:defRPr sz="2200" b="1">
                <a:solidFill>
                  <a:srgbClr val="0F172A"/>
                </a:solidFill>
              </a:defRPr>
            </a:pPr>
            <a:r>
              <a:rPr dirty="0" err="1"/>
              <a:t>Flujo</a:t>
            </a:r>
            <a:r>
              <a:rPr dirty="0"/>
              <a:t> </a:t>
            </a:r>
            <a:r>
              <a:rPr dirty="0" err="1"/>
              <a:t>Operativo</a:t>
            </a:r>
            <a:r>
              <a:rPr dirty="0"/>
              <a:t> de Doble </a:t>
            </a:r>
            <a:r>
              <a:rPr dirty="0" err="1"/>
              <a:t>Pesaje</a:t>
            </a:r>
            <a:r>
              <a:rPr dirty="0"/>
              <a:t> y </a:t>
            </a:r>
            <a:r>
              <a:rPr dirty="0" err="1"/>
              <a:t>Auditoría</a:t>
            </a:r>
            <a:endParaRPr dirty="0"/>
          </a:p>
        </p:txBody>
      </p:sp>
      <p:sp>
        <p:nvSpPr>
          <p:cNvPr id="5" name="Rounded Rectangle 4"/>
          <p:cNvSpPr/>
          <p:nvPr/>
        </p:nvSpPr>
        <p:spPr>
          <a:xfrm>
            <a:off x="8168335" y="411480"/>
            <a:ext cx="3291840" cy="594360"/>
          </a:xfrm>
          <a:prstGeom prst="roundRect">
            <a:avLst/>
          </a:prstGeom>
          <a:solidFill>
            <a:srgbClr val="D1FAE5"/>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047857"/>
                </a:solidFill>
              </a:defRPr>
            </a:pPr>
            <a:r>
              <a:t>👤 Felipe Ricaurte</a:t>
            </a:r>
          </a:p>
          <a:p>
            <a:pPr algn="ctr">
              <a:defRPr sz="950">
                <a:solidFill>
                  <a:srgbClr val="047857"/>
                </a:solidFill>
              </a:defRPr>
            </a:pPr>
            <a:r>
              <a:t>⏱️ 5:30 - 7:00 (90 seg)</a:t>
            </a:r>
          </a:p>
        </p:txBody>
      </p:sp>
      <p:sp>
        <p:nvSpPr>
          <p:cNvPr id="6" name="Rounded Rectangle 5"/>
          <p:cNvSpPr/>
          <p:nvPr/>
        </p:nvSpPr>
        <p:spPr>
          <a:xfrm>
            <a:off x="731520" y="1463040"/>
            <a:ext cx="2468880" cy="402336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463040"/>
            <a:ext cx="2468880" cy="6858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508760"/>
            <a:ext cx="2286000" cy="594360"/>
          </a:xfrm>
          <a:prstGeom prst="rect">
            <a:avLst/>
          </a:prstGeom>
          <a:noFill/>
        </p:spPr>
        <p:txBody>
          <a:bodyPr wrap="square">
            <a:spAutoFit/>
          </a:bodyPr>
          <a:lstStyle/>
          <a:p>
            <a:pPr algn="ctr">
              <a:defRPr sz="1000" b="1">
                <a:solidFill>
                  <a:srgbClr val="F1F5F9"/>
                </a:solidFill>
              </a:defRPr>
            </a:pPr>
            <a:r>
              <a:t>PASO 1</a:t>
            </a:r>
          </a:p>
          <a:p>
            <a:pPr algn="ctr">
              <a:defRPr sz="1100" b="1">
                <a:solidFill>
                  <a:srgbClr val="FFFFFF"/>
                </a:solidFill>
              </a:defRPr>
            </a:pPr>
            <a:r>
              <a:t>🚛 Ingreso y Peso Bruto</a:t>
            </a:r>
          </a:p>
        </p:txBody>
      </p:sp>
      <p:sp>
        <p:nvSpPr>
          <p:cNvPr id="9" name="TextBox 8"/>
          <p:cNvSpPr txBox="1"/>
          <p:nvPr/>
        </p:nvSpPr>
        <p:spPr>
          <a:xfrm>
            <a:off x="868680" y="2903220"/>
            <a:ext cx="2194560" cy="1795363"/>
          </a:xfrm>
          <a:prstGeom prst="rect">
            <a:avLst/>
          </a:prstGeom>
          <a:noFill/>
        </p:spPr>
        <p:txBody>
          <a:bodyPr wrap="square">
            <a:spAutoFit/>
          </a:bodyPr>
          <a:lstStyle/>
          <a:p>
            <a:pPr>
              <a:spcBef>
                <a:spcPts val="800"/>
              </a:spcBef>
              <a:defRPr sz="1050">
                <a:solidFill>
                  <a:srgbClr val="1E293B"/>
                </a:solidFill>
              </a:defRPr>
            </a:pPr>
            <a:r>
              <a:rPr dirty="0"/>
              <a:t>• </a:t>
            </a:r>
            <a:r>
              <a:rPr dirty="0" err="1"/>
              <a:t>Llega</a:t>
            </a:r>
            <a:r>
              <a:rPr dirty="0"/>
              <a:t> el </a:t>
            </a:r>
            <a:r>
              <a:rPr dirty="0" err="1"/>
              <a:t>camión</a:t>
            </a:r>
            <a:r>
              <a:rPr dirty="0"/>
              <a:t> </a:t>
            </a:r>
            <a:r>
              <a:rPr dirty="0" err="1"/>
              <a:t>cargado</a:t>
            </a:r>
            <a:r>
              <a:rPr dirty="0"/>
              <a:t>.</a:t>
            </a:r>
          </a:p>
          <a:p>
            <a:pPr>
              <a:spcBef>
                <a:spcPts val="800"/>
              </a:spcBef>
              <a:defRPr sz="1050">
                <a:solidFill>
                  <a:srgbClr val="1E293B"/>
                </a:solidFill>
              </a:defRPr>
            </a:pPr>
            <a:r>
              <a:rPr dirty="0"/>
              <a:t>• Lectura </a:t>
            </a:r>
            <a:r>
              <a:rPr dirty="0" err="1"/>
              <a:t>automática</a:t>
            </a:r>
            <a:r>
              <a:rPr dirty="0"/>
              <a:t> de </a:t>
            </a:r>
            <a:r>
              <a:rPr dirty="0" err="1"/>
              <a:t>placa</a:t>
            </a:r>
            <a:r>
              <a:rPr dirty="0"/>
              <a:t> y </a:t>
            </a:r>
            <a:r>
              <a:rPr dirty="0" err="1"/>
              <a:t>chofer</a:t>
            </a:r>
            <a:r>
              <a:rPr dirty="0"/>
              <a:t>.</a:t>
            </a:r>
            <a:endParaRPr lang="en-US" dirty="0"/>
          </a:p>
          <a:p>
            <a:pPr>
              <a:spcBef>
                <a:spcPts val="800"/>
              </a:spcBef>
              <a:defRPr sz="1050">
                <a:solidFill>
                  <a:srgbClr val="1E293B"/>
                </a:solidFill>
              </a:defRPr>
            </a:pPr>
            <a:r>
              <a:rPr lang="en-US" dirty="0"/>
              <a:t>• Se </a:t>
            </a:r>
            <a:r>
              <a:rPr lang="en-US" dirty="0" err="1"/>
              <a:t>selecciona</a:t>
            </a:r>
            <a:r>
              <a:rPr lang="en-US" dirty="0"/>
              <a:t> product (</a:t>
            </a:r>
            <a:r>
              <a:rPr lang="en-US" dirty="0" err="1"/>
              <a:t>Maíz</a:t>
            </a:r>
            <a:r>
              <a:rPr lang="en-US" dirty="0"/>
              <a:t>, Cacao, Soja)</a:t>
            </a:r>
            <a:endParaRPr dirty="0"/>
          </a:p>
          <a:p>
            <a:pPr>
              <a:spcBef>
                <a:spcPts val="800"/>
              </a:spcBef>
              <a:defRPr sz="1050">
                <a:solidFill>
                  <a:srgbClr val="1E293B"/>
                </a:solidFill>
              </a:defRPr>
            </a:pPr>
            <a:r>
              <a:rPr dirty="0"/>
              <a:t>• </a:t>
            </a:r>
            <a:r>
              <a:rPr dirty="0" err="1"/>
              <a:t>Captura</a:t>
            </a:r>
            <a:r>
              <a:rPr dirty="0"/>
              <a:t> </a:t>
            </a:r>
            <a:r>
              <a:rPr dirty="0" err="1"/>
              <a:t>directa</a:t>
            </a:r>
            <a:r>
              <a:rPr dirty="0"/>
              <a:t> de Peso Bruto </a:t>
            </a:r>
            <a:r>
              <a:rPr dirty="0" err="1"/>
              <a:t>desde</a:t>
            </a:r>
            <a:r>
              <a:rPr dirty="0"/>
              <a:t> IND780 (</a:t>
            </a:r>
            <a:r>
              <a:rPr dirty="0" err="1"/>
              <a:t>ej</a:t>
            </a:r>
            <a:r>
              <a:rPr dirty="0"/>
              <a:t>. 32,500 kg).</a:t>
            </a:r>
          </a:p>
          <a:p>
            <a:pPr>
              <a:spcBef>
                <a:spcPts val="800"/>
              </a:spcBef>
              <a:defRPr sz="1050">
                <a:solidFill>
                  <a:srgbClr val="1E293B"/>
                </a:solidFill>
              </a:defRPr>
            </a:pPr>
            <a:r>
              <a:rPr dirty="0"/>
              <a:t>• Generación de ticket de entrada.</a:t>
            </a:r>
          </a:p>
        </p:txBody>
      </p:sp>
      <p:sp>
        <p:nvSpPr>
          <p:cNvPr id="10" name="Rounded Rectangle 9"/>
          <p:cNvSpPr/>
          <p:nvPr/>
        </p:nvSpPr>
        <p:spPr>
          <a:xfrm>
            <a:off x="3429000" y="1463040"/>
            <a:ext cx="2468880" cy="402336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29000" y="1463040"/>
            <a:ext cx="2468880" cy="6858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20440" y="1508760"/>
            <a:ext cx="2286000" cy="594360"/>
          </a:xfrm>
          <a:prstGeom prst="rect">
            <a:avLst/>
          </a:prstGeom>
          <a:noFill/>
        </p:spPr>
        <p:txBody>
          <a:bodyPr wrap="square">
            <a:spAutoFit/>
          </a:bodyPr>
          <a:lstStyle/>
          <a:p>
            <a:pPr algn="ctr">
              <a:defRPr sz="1000" b="1">
                <a:solidFill>
                  <a:srgbClr val="F1F5F9"/>
                </a:solidFill>
              </a:defRPr>
            </a:pPr>
            <a:r>
              <a:t>PASO 2</a:t>
            </a:r>
          </a:p>
          <a:p>
            <a:pPr algn="ctr">
              <a:defRPr sz="1100" b="1">
                <a:solidFill>
                  <a:srgbClr val="FFFFFF"/>
                </a:solidFill>
              </a:defRPr>
            </a:pPr>
            <a:r>
              <a:t>🌾 Proceso de Descarga</a:t>
            </a:r>
          </a:p>
        </p:txBody>
      </p:sp>
      <p:sp>
        <p:nvSpPr>
          <p:cNvPr id="13" name="TextBox 12"/>
          <p:cNvSpPr txBox="1"/>
          <p:nvPr/>
        </p:nvSpPr>
        <p:spPr>
          <a:xfrm>
            <a:off x="3566160" y="2903220"/>
            <a:ext cx="2194560" cy="3154680"/>
          </a:xfrm>
          <a:prstGeom prst="rect">
            <a:avLst/>
          </a:prstGeom>
          <a:noFill/>
        </p:spPr>
        <p:txBody>
          <a:bodyPr wrap="square">
            <a:spAutoFit/>
          </a:bodyPr>
          <a:lstStyle/>
          <a:p>
            <a:pPr>
              <a:spcBef>
                <a:spcPts val="800"/>
              </a:spcBef>
              <a:defRPr sz="1050">
                <a:solidFill>
                  <a:srgbClr val="1E293B"/>
                </a:solidFill>
              </a:defRPr>
            </a:pPr>
            <a:r>
              <a:rPr dirty="0"/>
              <a:t>• </a:t>
            </a:r>
            <a:r>
              <a:rPr dirty="0" err="1"/>
              <a:t>Vehículo</a:t>
            </a:r>
            <a:r>
              <a:rPr dirty="0"/>
              <a:t> </a:t>
            </a:r>
            <a:r>
              <a:rPr dirty="0" err="1"/>
              <a:t>pasa</a:t>
            </a:r>
            <a:r>
              <a:rPr dirty="0"/>
              <a:t> a </a:t>
            </a:r>
            <a:r>
              <a:rPr dirty="0" err="1"/>
              <a:t>tolvas</a:t>
            </a:r>
            <a:r>
              <a:rPr dirty="0"/>
              <a:t> o bodegas de </a:t>
            </a:r>
            <a:r>
              <a:rPr dirty="0" err="1"/>
              <a:t>acopio</a:t>
            </a:r>
            <a:r>
              <a:rPr dirty="0"/>
              <a:t>.</a:t>
            </a:r>
          </a:p>
          <a:p>
            <a:pPr>
              <a:spcBef>
                <a:spcPts val="800"/>
              </a:spcBef>
              <a:defRPr sz="1050">
                <a:solidFill>
                  <a:srgbClr val="1E293B"/>
                </a:solidFill>
              </a:defRPr>
            </a:pPr>
            <a:r>
              <a:rPr dirty="0"/>
              <a:t>• Registro de </a:t>
            </a:r>
            <a:r>
              <a:rPr dirty="0" err="1"/>
              <a:t>tipo</a:t>
            </a:r>
            <a:r>
              <a:rPr dirty="0"/>
              <a:t> de </a:t>
            </a:r>
            <a:r>
              <a:rPr dirty="0" err="1"/>
              <a:t>producto</a:t>
            </a:r>
            <a:r>
              <a:rPr dirty="0"/>
              <a:t> (</a:t>
            </a:r>
            <a:r>
              <a:rPr dirty="0" err="1"/>
              <a:t>Maíz</a:t>
            </a:r>
            <a:r>
              <a:rPr dirty="0"/>
              <a:t>, Cacao, Soja).</a:t>
            </a:r>
          </a:p>
          <a:p>
            <a:pPr>
              <a:spcBef>
                <a:spcPts val="800"/>
              </a:spcBef>
              <a:defRPr sz="1050">
                <a:solidFill>
                  <a:srgbClr val="1E293B"/>
                </a:solidFill>
              </a:defRPr>
            </a:pPr>
            <a:r>
              <a:rPr dirty="0"/>
              <a:t>• </a:t>
            </a:r>
            <a:r>
              <a:rPr dirty="0" err="1"/>
              <a:t>Monitoreo</a:t>
            </a:r>
            <a:r>
              <a:rPr dirty="0"/>
              <a:t> de </a:t>
            </a:r>
            <a:r>
              <a:rPr dirty="0" err="1"/>
              <a:t>tiempo</a:t>
            </a:r>
            <a:r>
              <a:rPr dirty="0"/>
              <a:t> de </a:t>
            </a:r>
            <a:r>
              <a:rPr dirty="0" err="1"/>
              <a:t>estadía</a:t>
            </a:r>
            <a:r>
              <a:rPr dirty="0"/>
              <a:t> </a:t>
            </a:r>
            <a:r>
              <a:rPr dirty="0" err="1"/>
              <a:t>en</a:t>
            </a:r>
            <a:r>
              <a:rPr dirty="0"/>
              <a:t> planta.</a:t>
            </a:r>
          </a:p>
          <a:p>
            <a:pPr>
              <a:spcBef>
                <a:spcPts val="800"/>
              </a:spcBef>
              <a:defRPr sz="1050">
                <a:solidFill>
                  <a:srgbClr val="1E293B"/>
                </a:solidFill>
              </a:defRPr>
            </a:pPr>
            <a:r>
              <a:rPr dirty="0"/>
              <a:t>• </a:t>
            </a:r>
            <a:r>
              <a:rPr dirty="0" err="1"/>
              <a:t>Validación</a:t>
            </a:r>
            <a:r>
              <a:rPr dirty="0"/>
              <a:t> de </a:t>
            </a:r>
            <a:r>
              <a:rPr dirty="0" err="1"/>
              <a:t>lote</a:t>
            </a:r>
            <a:r>
              <a:rPr dirty="0"/>
              <a:t> y </a:t>
            </a:r>
            <a:r>
              <a:rPr dirty="0" err="1"/>
              <a:t>proveedor</a:t>
            </a:r>
            <a:r>
              <a:rPr dirty="0"/>
              <a:t>.</a:t>
            </a:r>
          </a:p>
        </p:txBody>
      </p:sp>
      <p:sp>
        <p:nvSpPr>
          <p:cNvPr id="14" name="Rounded Rectangle 13"/>
          <p:cNvSpPr/>
          <p:nvPr/>
        </p:nvSpPr>
        <p:spPr>
          <a:xfrm>
            <a:off x="6126480" y="1463040"/>
            <a:ext cx="2468880" cy="402336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0" y="1463040"/>
            <a:ext cx="2468880" cy="6858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0" y="1508760"/>
            <a:ext cx="2286000" cy="594360"/>
          </a:xfrm>
          <a:prstGeom prst="rect">
            <a:avLst/>
          </a:prstGeom>
          <a:noFill/>
        </p:spPr>
        <p:txBody>
          <a:bodyPr wrap="square">
            <a:spAutoFit/>
          </a:bodyPr>
          <a:lstStyle/>
          <a:p>
            <a:pPr algn="ctr">
              <a:defRPr sz="1000" b="1">
                <a:solidFill>
                  <a:srgbClr val="F1F5F9"/>
                </a:solidFill>
              </a:defRPr>
            </a:pPr>
            <a:r>
              <a:t>PASO 3</a:t>
            </a:r>
          </a:p>
          <a:p>
            <a:pPr algn="ctr">
              <a:defRPr sz="1100" b="1">
                <a:solidFill>
                  <a:srgbClr val="FFFFFF"/>
                </a:solidFill>
              </a:defRPr>
            </a:pPr>
            <a:r>
              <a:t>🚚 Salida y Peso Neto</a:t>
            </a:r>
          </a:p>
        </p:txBody>
      </p:sp>
      <p:sp>
        <p:nvSpPr>
          <p:cNvPr id="17" name="TextBox 16"/>
          <p:cNvSpPr txBox="1"/>
          <p:nvPr/>
        </p:nvSpPr>
        <p:spPr>
          <a:xfrm>
            <a:off x="6263640" y="2903220"/>
            <a:ext cx="2194560" cy="3154680"/>
          </a:xfrm>
          <a:prstGeom prst="rect">
            <a:avLst/>
          </a:prstGeom>
          <a:noFill/>
        </p:spPr>
        <p:txBody>
          <a:bodyPr wrap="square">
            <a:spAutoFit/>
          </a:bodyPr>
          <a:lstStyle/>
          <a:p>
            <a:pPr>
              <a:spcBef>
                <a:spcPts val="800"/>
              </a:spcBef>
              <a:defRPr sz="1050">
                <a:solidFill>
                  <a:srgbClr val="1E293B"/>
                </a:solidFill>
              </a:defRPr>
            </a:pPr>
            <a:r>
              <a:t>• Camión vacío regresa a la báscula.</a:t>
            </a:r>
          </a:p>
          <a:p>
            <a:pPr>
              <a:spcBef>
                <a:spcPts val="800"/>
              </a:spcBef>
              <a:defRPr sz="1050">
                <a:solidFill>
                  <a:srgbClr val="1E293B"/>
                </a:solidFill>
              </a:defRPr>
            </a:pPr>
            <a:r>
              <a:t>• Captura de Tara (ej. 12,100 kg).</a:t>
            </a:r>
          </a:p>
          <a:p>
            <a:pPr>
              <a:spcBef>
                <a:spcPts val="800"/>
              </a:spcBef>
              <a:defRPr sz="1050">
                <a:solidFill>
                  <a:srgbClr val="1E293B"/>
                </a:solidFill>
              </a:defRPr>
            </a:pPr>
            <a:r>
              <a:t>• Cálculo automático instantáneo: Neto = Bruto - Tara (20,400 kg).</a:t>
            </a:r>
          </a:p>
          <a:p>
            <a:pPr>
              <a:spcBef>
                <a:spcPts val="800"/>
              </a:spcBef>
              <a:defRPr sz="1050">
                <a:solidFill>
                  <a:srgbClr val="1E293B"/>
                </a:solidFill>
              </a:defRPr>
            </a:pPr>
            <a:r>
              <a:t>• Impresión de Ticket Final.</a:t>
            </a:r>
          </a:p>
        </p:txBody>
      </p:sp>
      <p:sp>
        <p:nvSpPr>
          <p:cNvPr id="18" name="Rounded Rectangle 17"/>
          <p:cNvSpPr/>
          <p:nvPr/>
        </p:nvSpPr>
        <p:spPr>
          <a:xfrm>
            <a:off x="8823960" y="1463040"/>
            <a:ext cx="2468880" cy="4023360"/>
          </a:xfrm>
          <a:prstGeom prst="roundRect">
            <a:avLst/>
          </a:prstGeom>
          <a:solidFill>
            <a:srgbClr val="FFFFFF"/>
          </a:solidFill>
          <a:ln w="1524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823960" y="1463040"/>
            <a:ext cx="2468880" cy="68580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15400" y="1508760"/>
            <a:ext cx="2286000" cy="594360"/>
          </a:xfrm>
          <a:prstGeom prst="rect">
            <a:avLst/>
          </a:prstGeom>
          <a:noFill/>
        </p:spPr>
        <p:txBody>
          <a:bodyPr wrap="square">
            <a:spAutoFit/>
          </a:bodyPr>
          <a:lstStyle/>
          <a:p>
            <a:pPr algn="ctr">
              <a:defRPr sz="1000" b="1">
                <a:solidFill>
                  <a:srgbClr val="F1F5F9"/>
                </a:solidFill>
              </a:defRPr>
            </a:pPr>
            <a:r>
              <a:t>PASO 4</a:t>
            </a:r>
          </a:p>
          <a:p>
            <a:pPr algn="ctr">
              <a:defRPr sz="1100" b="1">
                <a:solidFill>
                  <a:srgbClr val="FFFFFF"/>
                </a:solidFill>
              </a:defRPr>
            </a:pPr>
            <a:r>
              <a:t>🔒 Auditoría Integral</a:t>
            </a:r>
          </a:p>
        </p:txBody>
      </p:sp>
      <p:sp>
        <p:nvSpPr>
          <p:cNvPr id="21" name="TextBox 20"/>
          <p:cNvSpPr txBox="1"/>
          <p:nvPr/>
        </p:nvSpPr>
        <p:spPr>
          <a:xfrm>
            <a:off x="8961120" y="2903220"/>
            <a:ext cx="2194560" cy="3154680"/>
          </a:xfrm>
          <a:prstGeom prst="rect">
            <a:avLst/>
          </a:prstGeom>
          <a:noFill/>
        </p:spPr>
        <p:txBody>
          <a:bodyPr wrap="square">
            <a:spAutoFit/>
          </a:bodyPr>
          <a:lstStyle/>
          <a:p>
            <a:pPr>
              <a:spcBef>
                <a:spcPts val="800"/>
              </a:spcBef>
              <a:defRPr sz="1050">
                <a:solidFill>
                  <a:srgbClr val="1E293B"/>
                </a:solidFill>
              </a:defRPr>
            </a:pPr>
            <a:r>
              <a:t>• Registro inalterable de la transacción.</a:t>
            </a:r>
          </a:p>
          <a:p>
            <a:pPr>
              <a:spcBef>
                <a:spcPts val="800"/>
              </a:spcBef>
              <a:defRPr sz="1050">
                <a:solidFill>
                  <a:srgbClr val="1E293B"/>
                </a:solidFill>
              </a:defRPr>
            </a:pPr>
            <a:r>
              <a:t>• Traza: IP, Usuario, Fecha, Hora y Báscula ID.</a:t>
            </a:r>
          </a:p>
          <a:p>
            <a:pPr>
              <a:spcBef>
                <a:spcPts val="800"/>
              </a:spcBef>
              <a:defRPr sz="1050">
                <a:solidFill>
                  <a:srgbClr val="1E293B"/>
                </a:solidFill>
              </a:defRPr>
            </a:pPr>
            <a:r>
              <a:t>• Sincronización automática con SQL Server.</a:t>
            </a:r>
          </a:p>
          <a:p>
            <a:pPr>
              <a:spcBef>
                <a:spcPts val="800"/>
              </a:spcBef>
              <a:defRPr sz="1050">
                <a:solidFill>
                  <a:srgbClr val="1E293B"/>
                </a:solidFill>
              </a:defRPr>
            </a:pPr>
            <a:r>
              <a:t>• Respaldo para SRI y liquidación.</a:t>
            </a:r>
          </a:p>
        </p:txBody>
      </p:sp>
      <p:sp>
        <p:nvSpPr>
          <p:cNvPr id="22" name="Rounded Rectangle 21"/>
          <p:cNvSpPr/>
          <p:nvPr/>
        </p:nvSpPr>
        <p:spPr>
          <a:xfrm>
            <a:off x="731520" y="5623560"/>
            <a:ext cx="10728655" cy="91440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5715000"/>
            <a:ext cx="10378440" cy="307777"/>
          </a:xfrm>
          <a:prstGeom prst="rect">
            <a:avLst/>
          </a:prstGeom>
          <a:noFill/>
        </p:spPr>
        <p:txBody>
          <a:bodyPr wrap="square">
            <a:spAutoFit/>
          </a:bodyPr>
          <a:lstStyle/>
          <a:p>
            <a:pPr>
              <a:defRPr sz="1200" b="1">
                <a:solidFill>
                  <a:srgbClr val="34D399"/>
                </a:solidFill>
              </a:defRPr>
            </a:pPr>
            <a:r>
              <a:rPr sz="1400" dirty="0"/>
              <a:t> RESULTADO OPERATIVO EN PLANTA: </a:t>
            </a:r>
            <a:r>
              <a:rPr sz="1400" dirty="0" err="1"/>
              <a:t>Reducción</a:t>
            </a:r>
            <a:r>
              <a:rPr sz="1400" dirty="0"/>
              <a:t> del </a:t>
            </a:r>
            <a:r>
              <a:rPr sz="1400" dirty="0" err="1"/>
              <a:t>ciclo</a:t>
            </a:r>
            <a:r>
              <a:rPr sz="1400" dirty="0"/>
              <a:t> total de </a:t>
            </a:r>
            <a:r>
              <a:rPr sz="1400" dirty="0" err="1"/>
              <a:t>pesaje</a:t>
            </a:r>
            <a:r>
              <a:rPr sz="1400" dirty="0"/>
              <a:t> de 8 </a:t>
            </a:r>
            <a:r>
              <a:rPr sz="1400" dirty="0" err="1"/>
              <a:t>minutos</a:t>
            </a:r>
            <a:r>
              <a:rPr sz="1400" dirty="0"/>
              <a:t> a </a:t>
            </a:r>
            <a:r>
              <a:rPr sz="1400" dirty="0" err="1"/>
              <a:t>menos</a:t>
            </a:r>
            <a:r>
              <a:rPr sz="1400" dirty="0"/>
              <a:t> de </a:t>
            </a:r>
            <a:r>
              <a:rPr lang="en-US" sz="1400" dirty="0"/>
              <a:t>2 </a:t>
            </a:r>
            <a:r>
              <a:rPr lang="en-US" sz="1400" dirty="0" err="1"/>
              <a:t>minutos</a:t>
            </a:r>
            <a:r>
              <a:rPr sz="1400" dirty="0"/>
              <a:t> </a:t>
            </a:r>
            <a:r>
              <a:rPr sz="1400" dirty="0" err="1"/>
              <a:t>por</a:t>
            </a:r>
            <a:r>
              <a:rPr sz="1400" dirty="0"/>
              <a:t> </a:t>
            </a:r>
            <a:r>
              <a:rPr sz="1400" dirty="0" err="1"/>
              <a:t>vehículo</a:t>
            </a:r>
            <a:r>
              <a:rPr sz="1400"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1100" b="1">
                <a:solidFill>
                  <a:srgbClr val="059669"/>
                </a:solidFill>
              </a:defRPr>
            </a:pPr>
            <a:r>
              <a:t>6. ANALÍTICA AVANZADA</a:t>
            </a:r>
          </a:p>
        </p:txBody>
      </p:sp>
      <p:sp>
        <p:nvSpPr>
          <p:cNvPr id="4" name="TextBox 3"/>
          <p:cNvSpPr txBox="1"/>
          <p:nvPr/>
        </p:nvSpPr>
        <p:spPr>
          <a:xfrm>
            <a:off x="731520" y="640080"/>
            <a:ext cx="7772400" cy="548640"/>
          </a:xfrm>
          <a:prstGeom prst="rect">
            <a:avLst/>
          </a:prstGeom>
          <a:noFill/>
        </p:spPr>
        <p:txBody>
          <a:bodyPr wrap="square" lIns="0" tIns="0" rIns="0" bIns="0">
            <a:spAutoFit/>
          </a:bodyPr>
          <a:lstStyle/>
          <a:p>
            <a:pPr>
              <a:defRPr sz="2200" b="1">
                <a:solidFill>
                  <a:srgbClr val="0F172A"/>
                </a:solidFill>
              </a:defRPr>
            </a:pPr>
            <a:r>
              <a:t>Inteligencia de Negocios (OLAP) y Asistente con IA</a:t>
            </a:r>
          </a:p>
        </p:txBody>
      </p:sp>
      <p:sp>
        <p:nvSpPr>
          <p:cNvPr id="5" name="Rounded Rectangle 4"/>
          <p:cNvSpPr/>
          <p:nvPr/>
        </p:nvSpPr>
        <p:spPr>
          <a:xfrm>
            <a:off x="8168335" y="411480"/>
            <a:ext cx="3291840" cy="594360"/>
          </a:xfrm>
          <a:prstGeom prst="roundRect">
            <a:avLst/>
          </a:prstGeom>
          <a:solidFill>
            <a:srgbClr val="D1FAE5"/>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047857"/>
                </a:solidFill>
              </a:defRPr>
            </a:pPr>
            <a:r>
              <a:t>👤 Felipe Ricaurte</a:t>
            </a:r>
          </a:p>
          <a:p>
            <a:pPr algn="ctr">
              <a:defRPr sz="950">
                <a:solidFill>
                  <a:srgbClr val="047857"/>
                </a:solidFill>
              </a:defRPr>
            </a:pPr>
            <a:r>
              <a:t>⏱️ 7:00 - 8:15 (75 seg)</a:t>
            </a:r>
          </a:p>
        </p:txBody>
      </p:sp>
      <p:sp>
        <p:nvSpPr>
          <p:cNvPr id="6" name="Rounded Rectangle 5"/>
          <p:cNvSpPr/>
          <p:nvPr/>
        </p:nvSpPr>
        <p:spPr>
          <a:xfrm>
            <a:off x="731520" y="1463040"/>
            <a:ext cx="5212080" cy="48463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824371"/>
            <a:ext cx="4663440" cy="2123658"/>
          </a:xfrm>
          <a:prstGeom prst="rect">
            <a:avLst/>
          </a:prstGeom>
          <a:noFill/>
        </p:spPr>
        <p:txBody>
          <a:bodyPr wrap="square">
            <a:spAutoFit/>
          </a:bodyPr>
          <a:lstStyle/>
          <a:p>
            <a:pPr>
              <a:defRPr sz="1400" b="1">
                <a:solidFill>
                  <a:srgbClr val="047857"/>
                </a:solidFill>
              </a:defRPr>
            </a:pPr>
            <a:r>
              <a:rPr dirty="0"/>
              <a:t>📊 MODELO ANALÍTICO OLAP / BI</a:t>
            </a:r>
          </a:p>
          <a:p>
            <a:pPr>
              <a:spcBef>
                <a:spcPts val="900"/>
              </a:spcBef>
              <a:defRPr sz="1100">
                <a:solidFill>
                  <a:srgbClr val="1E293B"/>
                </a:solidFill>
              </a:defRPr>
            </a:pPr>
            <a:r>
              <a:rPr dirty="0"/>
              <a:t>• </a:t>
            </a:r>
            <a:r>
              <a:rPr dirty="0" err="1"/>
              <a:t>Separación</a:t>
            </a:r>
            <a:r>
              <a:rPr dirty="0"/>
              <a:t> OLTP / OLAP: La base </a:t>
            </a:r>
            <a:r>
              <a:rPr dirty="0" err="1"/>
              <a:t>operacional</a:t>
            </a:r>
            <a:r>
              <a:rPr dirty="0"/>
              <a:t> 3NF no se </a:t>
            </a:r>
            <a:r>
              <a:rPr dirty="0" err="1"/>
              <a:t>satura</a:t>
            </a:r>
            <a:r>
              <a:rPr dirty="0"/>
              <a:t> con </a:t>
            </a:r>
            <a:r>
              <a:rPr dirty="0" err="1"/>
              <a:t>reportes</a:t>
            </a:r>
            <a:r>
              <a:rPr dirty="0"/>
              <a:t> </a:t>
            </a:r>
            <a:r>
              <a:rPr dirty="0" err="1"/>
              <a:t>pesados</a:t>
            </a:r>
            <a:r>
              <a:rPr dirty="0"/>
              <a:t>. Un </a:t>
            </a:r>
            <a:r>
              <a:rPr dirty="0" err="1"/>
              <a:t>proceso</a:t>
            </a:r>
            <a:r>
              <a:rPr dirty="0"/>
              <a:t> ETL </a:t>
            </a:r>
            <a:r>
              <a:rPr dirty="0" err="1"/>
              <a:t>transfiere</a:t>
            </a:r>
            <a:r>
              <a:rPr dirty="0"/>
              <a:t> </a:t>
            </a:r>
            <a:r>
              <a:rPr dirty="0" err="1"/>
              <a:t>datos</a:t>
            </a:r>
            <a:r>
              <a:rPr dirty="0"/>
              <a:t> </a:t>
            </a:r>
            <a:r>
              <a:rPr dirty="0" err="1"/>
              <a:t>limpios</a:t>
            </a:r>
            <a:r>
              <a:rPr dirty="0"/>
              <a:t> al Data Warehouse.</a:t>
            </a:r>
          </a:p>
          <a:p>
            <a:pPr>
              <a:spcBef>
                <a:spcPts val="900"/>
              </a:spcBef>
              <a:defRPr sz="1100">
                <a:solidFill>
                  <a:srgbClr val="1E293B"/>
                </a:solidFill>
              </a:defRPr>
            </a:pPr>
            <a:r>
              <a:rPr dirty="0"/>
              <a:t>• </a:t>
            </a:r>
            <a:r>
              <a:rPr dirty="0" err="1"/>
              <a:t>Esquema</a:t>
            </a:r>
            <a:r>
              <a:rPr dirty="0"/>
              <a:t> de Estrella: </a:t>
            </a:r>
            <a:r>
              <a:rPr dirty="0" err="1"/>
              <a:t>Tabla</a:t>
            </a:r>
            <a:r>
              <a:rPr dirty="0"/>
              <a:t> de </a:t>
            </a:r>
            <a:r>
              <a:rPr dirty="0" err="1"/>
              <a:t>hechos</a:t>
            </a:r>
            <a:r>
              <a:rPr dirty="0"/>
              <a:t> de </a:t>
            </a:r>
            <a:r>
              <a:rPr dirty="0" err="1"/>
              <a:t>Pesajes</a:t>
            </a:r>
            <a:r>
              <a:rPr dirty="0"/>
              <a:t> </a:t>
            </a:r>
            <a:r>
              <a:rPr dirty="0" err="1"/>
              <a:t>conectada</a:t>
            </a:r>
            <a:r>
              <a:rPr dirty="0"/>
              <a:t> con </a:t>
            </a:r>
            <a:r>
              <a:rPr dirty="0" err="1"/>
              <a:t>dimensiones</a:t>
            </a:r>
            <a:r>
              <a:rPr dirty="0"/>
              <a:t>: Tiempo, </a:t>
            </a:r>
            <a:r>
              <a:rPr dirty="0" err="1"/>
              <a:t>Proveedor</a:t>
            </a:r>
            <a:r>
              <a:rPr dirty="0"/>
              <a:t>, </a:t>
            </a:r>
            <a:r>
              <a:rPr dirty="0" err="1"/>
              <a:t>Producto</a:t>
            </a:r>
            <a:r>
              <a:rPr dirty="0"/>
              <a:t>, </a:t>
            </a:r>
            <a:r>
              <a:rPr dirty="0" err="1"/>
              <a:t>Vehículo</a:t>
            </a:r>
            <a:r>
              <a:rPr dirty="0"/>
              <a:t> y </a:t>
            </a:r>
            <a:r>
              <a:rPr dirty="0" err="1"/>
              <a:t>Báscula</a:t>
            </a:r>
            <a:r>
              <a:rPr dirty="0"/>
              <a:t>.</a:t>
            </a:r>
          </a:p>
          <a:p>
            <a:pPr>
              <a:spcBef>
                <a:spcPts val="900"/>
              </a:spcBef>
              <a:defRPr sz="1100">
                <a:solidFill>
                  <a:srgbClr val="1E293B"/>
                </a:solidFill>
              </a:defRPr>
            </a:pPr>
            <a:r>
              <a:rPr dirty="0"/>
              <a:t>• KPIs </a:t>
            </a:r>
            <a:r>
              <a:rPr dirty="0" err="1"/>
              <a:t>en</a:t>
            </a:r>
            <a:r>
              <a:rPr dirty="0"/>
              <a:t> Tiempo Real: </a:t>
            </a:r>
            <a:r>
              <a:rPr dirty="0" err="1"/>
              <a:t>Visualización</a:t>
            </a:r>
            <a:r>
              <a:rPr dirty="0"/>
              <a:t> de </a:t>
            </a:r>
            <a:r>
              <a:rPr dirty="0" err="1"/>
              <a:t>volumen</a:t>
            </a:r>
            <a:r>
              <a:rPr dirty="0"/>
              <a:t> total </a:t>
            </a:r>
            <a:r>
              <a:rPr dirty="0" err="1"/>
              <a:t>neto</a:t>
            </a:r>
            <a:r>
              <a:rPr dirty="0"/>
              <a:t> </a:t>
            </a:r>
            <a:r>
              <a:rPr dirty="0" err="1"/>
              <a:t>recibido</a:t>
            </a:r>
            <a:r>
              <a:rPr dirty="0"/>
              <a:t>, </a:t>
            </a:r>
            <a:r>
              <a:rPr dirty="0" err="1"/>
              <a:t>tiempos</a:t>
            </a:r>
            <a:r>
              <a:rPr dirty="0"/>
              <a:t> </a:t>
            </a:r>
            <a:r>
              <a:rPr dirty="0" err="1"/>
              <a:t>promedio</a:t>
            </a:r>
            <a:r>
              <a:rPr dirty="0"/>
              <a:t> de </a:t>
            </a:r>
            <a:r>
              <a:rPr dirty="0" err="1"/>
              <a:t>ciclo</a:t>
            </a:r>
            <a:r>
              <a:rPr dirty="0"/>
              <a:t> </a:t>
            </a:r>
            <a:r>
              <a:rPr dirty="0" err="1"/>
              <a:t>en</a:t>
            </a:r>
            <a:r>
              <a:rPr dirty="0"/>
              <a:t> patio y ranking de </a:t>
            </a:r>
            <a:r>
              <a:rPr dirty="0" err="1"/>
              <a:t>productividad</a:t>
            </a:r>
            <a:r>
              <a:rPr dirty="0"/>
              <a:t> de </a:t>
            </a:r>
            <a:r>
              <a:rPr dirty="0" err="1"/>
              <a:t>proveedores</a:t>
            </a:r>
            <a:r>
              <a:rPr dirty="0"/>
              <a:t>.</a:t>
            </a:r>
          </a:p>
          <a:p>
            <a:pPr>
              <a:spcBef>
                <a:spcPts val="900"/>
              </a:spcBef>
              <a:defRPr sz="1100">
                <a:solidFill>
                  <a:srgbClr val="1E293B"/>
                </a:solidFill>
              </a:defRPr>
            </a:pPr>
            <a:r>
              <a:rPr dirty="0"/>
              <a:t>• </a:t>
            </a:r>
            <a:r>
              <a:rPr dirty="0" err="1"/>
              <a:t>Exportación</a:t>
            </a:r>
            <a:r>
              <a:rPr dirty="0"/>
              <a:t> </a:t>
            </a:r>
            <a:r>
              <a:rPr dirty="0" err="1"/>
              <a:t>Oficial</a:t>
            </a:r>
            <a:r>
              <a:rPr dirty="0"/>
              <a:t>: </a:t>
            </a:r>
            <a:r>
              <a:rPr dirty="0" err="1"/>
              <a:t>Reportes</a:t>
            </a:r>
            <a:r>
              <a:rPr dirty="0"/>
              <a:t> </a:t>
            </a:r>
            <a:r>
              <a:rPr dirty="0" err="1"/>
              <a:t>consolidados</a:t>
            </a:r>
            <a:r>
              <a:rPr dirty="0"/>
              <a:t> </a:t>
            </a:r>
            <a:r>
              <a:rPr dirty="0" err="1"/>
              <a:t>listos</a:t>
            </a:r>
            <a:r>
              <a:rPr dirty="0"/>
              <a:t> para </a:t>
            </a:r>
            <a:r>
              <a:rPr dirty="0" err="1"/>
              <a:t>auditorías</a:t>
            </a:r>
            <a:r>
              <a:rPr dirty="0"/>
              <a:t> </a:t>
            </a:r>
            <a:r>
              <a:rPr dirty="0" err="1"/>
              <a:t>tributarias</a:t>
            </a:r>
            <a:r>
              <a:rPr dirty="0"/>
              <a:t> ante el SRI.</a:t>
            </a:r>
          </a:p>
        </p:txBody>
      </p:sp>
      <p:sp>
        <p:nvSpPr>
          <p:cNvPr id="8" name="Rounded Rectangle 7"/>
          <p:cNvSpPr/>
          <p:nvPr/>
        </p:nvSpPr>
        <p:spPr>
          <a:xfrm>
            <a:off x="6217920" y="1463040"/>
            <a:ext cx="5212080" cy="4846320"/>
          </a:xfrm>
          <a:prstGeom prst="roundRect">
            <a:avLst/>
          </a:prstGeom>
          <a:solidFill>
            <a:srgbClr val="F5F3FF"/>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645920"/>
            <a:ext cx="4663440" cy="4389120"/>
          </a:xfrm>
          <a:prstGeom prst="rect">
            <a:avLst/>
          </a:prstGeom>
          <a:noFill/>
        </p:spPr>
        <p:txBody>
          <a:bodyPr wrap="square">
            <a:spAutoFit/>
          </a:bodyPr>
          <a:lstStyle/>
          <a:p>
            <a:pPr>
              <a:defRPr sz="1400" b="1">
                <a:solidFill>
                  <a:srgbClr val="7E22CE"/>
                </a:solidFill>
              </a:defRPr>
            </a:pPr>
            <a:r>
              <a:rPr dirty="0"/>
              <a:t>🤖 ASISTENTE CON IA EN LENGUAJE NATURAL</a:t>
            </a:r>
          </a:p>
          <a:p>
            <a:pPr>
              <a:spcBef>
                <a:spcPts val="900"/>
              </a:spcBef>
              <a:defRPr sz="1100">
                <a:solidFill>
                  <a:srgbClr val="1E293B"/>
                </a:solidFill>
              </a:defRPr>
            </a:pPr>
            <a:r>
              <a:rPr dirty="0"/>
              <a:t>✔ </a:t>
            </a:r>
            <a:r>
              <a:rPr dirty="0" err="1"/>
              <a:t>Consultas</a:t>
            </a:r>
            <a:r>
              <a:rPr dirty="0"/>
              <a:t> </a:t>
            </a:r>
            <a:r>
              <a:rPr dirty="0" err="1"/>
              <a:t>en</a:t>
            </a:r>
            <a:r>
              <a:rPr dirty="0"/>
              <a:t> </a:t>
            </a:r>
            <a:r>
              <a:rPr dirty="0" err="1"/>
              <a:t>Lenguaje</a:t>
            </a:r>
            <a:r>
              <a:rPr dirty="0"/>
              <a:t> Natural: El </a:t>
            </a:r>
            <a:r>
              <a:rPr dirty="0" err="1"/>
              <a:t>gerente</a:t>
            </a:r>
            <a:r>
              <a:rPr dirty="0"/>
              <a:t> o </a:t>
            </a:r>
            <a:r>
              <a:rPr dirty="0" err="1"/>
              <a:t>administrador</a:t>
            </a:r>
            <a:r>
              <a:rPr dirty="0"/>
              <a:t> </a:t>
            </a:r>
            <a:r>
              <a:rPr dirty="0" err="1"/>
              <a:t>puede</a:t>
            </a:r>
            <a:r>
              <a:rPr dirty="0"/>
              <a:t> </a:t>
            </a:r>
            <a:r>
              <a:rPr dirty="0" err="1"/>
              <a:t>preguntar</a:t>
            </a:r>
            <a:r>
              <a:rPr dirty="0"/>
              <a:t> </a:t>
            </a:r>
            <a:r>
              <a:rPr dirty="0" err="1"/>
              <a:t>directamente</a:t>
            </a:r>
            <a:r>
              <a:rPr dirty="0"/>
              <a:t> sin saber SQL: '¿</a:t>
            </a:r>
            <a:r>
              <a:rPr dirty="0" err="1"/>
              <a:t>Cuántas</a:t>
            </a:r>
            <a:r>
              <a:rPr dirty="0"/>
              <a:t> </a:t>
            </a:r>
            <a:r>
              <a:rPr dirty="0" err="1"/>
              <a:t>toneladas</a:t>
            </a:r>
            <a:r>
              <a:rPr dirty="0"/>
              <a:t> de </a:t>
            </a:r>
            <a:r>
              <a:rPr dirty="0" err="1"/>
              <a:t>maíz</a:t>
            </a:r>
            <a:r>
              <a:rPr dirty="0"/>
              <a:t> </a:t>
            </a:r>
            <a:r>
              <a:rPr dirty="0" err="1"/>
              <a:t>recibimos</a:t>
            </a:r>
            <a:r>
              <a:rPr dirty="0"/>
              <a:t> </a:t>
            </a:r>
            <a:r>
              <a:rPr dirty="0" err="1"/>
              <a:t>esta</a:t>
            </a:r>
            <a:r>
              <a:rPr dirty="0"/>
              <a:t> </a:t>
            </a:r>
            <a:r>
              <a:rPr dirty="0" err="1"/>
              <a:t>semana</a:t>
            </a:r>
            <a:r>
              <a:rPr dirty="0"/>
              <a:t>?'</a:t>
            </a:r>
          </a:p>
          <a:p>
            <a:pPr>
              <a:spcBef>
                <a:spcPts val="900"/>
              </a:spcBef>
              <a:defRPr sz="1100">
                <a:solidFill>
                  <a:srgbClr val="1E293B"/>
                </a:solidFill>
              </a:defRPr>
            </a:pPr>
            <a:r>
              <a:rPr dirty="0"/>
              <a:t>✔ Generación </a:t>
            </a:r>
            <a:r>
              <a:rPr dirty="0" err="1"/>
              <a:t>Dinámica</a:t>
            </a:r>
            <a:r>
              <a:rPr dirty="0"/>
              <a:t> de Insights: El </a:t>
            </a:r>
            <a:r>
              <a:rPr dirty="0" err="1"/>
              <a:t>modelo</a:t>
            </a:r>
            <a:r>
              <a:rPr dirty="0"/>
              <a:t> traduce la </a:t>
            </a:r>
            <a:r>
              <a:rPr dirty="0" err="1"/>
              <a:t>intención</a:t>
            </a:r>
            <a:r>
              <a:rPr dirty="0"/>
              <a:t> </a:t>
            </a:r>
            <a:r>
              <a:rPr dirty="0" err="1"/>
              <a:t>en</a:t>
            </a:r>
            <a:r>
              <a:rPr dirty="0"/>
              <a:t> </a:t>
            </a:r>
            <a:r>
              <a:rPr dirty="0" err="1"/>
              <a:t>consultas</a:t>
            </a:r>
            <a:r>
              <a:rPr dirty="0"/>
              <a:t> </a:t>
            </a:r>
            <a:r>
              <a:rPr dirty="0" err="1"/>
              <a:t>analíticas</a:t>
            </a:r>
            <a:r>
              <a:rPr dirty="0"/>
              <a:t> </a:t>
            </a:r>
            <a:r>
              <a:rPr dirty="0" err="1"/>
              <a:t>optimizadas</a:t>
            </a:r>
            <a:r>
              <a:rPr dirty="0"/>
              <a:t> y </a:t>
            </a:r>
            <a:r>
              <a:rPr dirty="0" err="1"/>
              <a:t>presenta</a:t>
            </a:r>
            <a:r>
              <a:rPr dirty="0"/>
              <a:t> </a:t>
            </a:r>
            <a:r>
              <a:rPr dirty="0" err="1"/>
              <a:t>tablas</a:t>
            </a:r>
            <a:r>
              <a:rPr dirty="0"/>
              <a:t> y </a:t>
            </a:r>
            <a:r>
              <a:rPr dirty="0" err="1"/>
              <a:t>gráficos</a:t>
            </a:r>
            <a:r>
              <a:rPr dirty="0"/>
              <a:t> </a:t>
            </a:r>
            <a:r>
              <a:rPr dirty="0" err="1"/>
              <a:t>resumen</a:t>
            </a:r>
            <a:r>
              <a:rPr dirty="0"/>
              <a:t>.</a:t>
            </a:r>
          </a:p>
          <a:p>
            <a:pPr>
              <a:spcBef>
                <a:spcPts val="900"/>
              </a:spcBef>
              <a:defRPr sz="1100">
                <a:solidFill>
                  <a:srgbClr val="1E293B"/>
                </a:solidFill>
              </a:defRPr>
            </a:pPr>
            <a:r>
              <a:rPr dirty="0"/>
              <a:t>✔ </a:t>
            </a:r>
            <a:r>
              <a:rPr dirty="0" err="1"/>
              <a:t>Detección</a:t>
            </a:r>
            <a:r>
              <a:rPr dirty="0"/>
              <a:t> de </a:t>
            </a:r>
            <a:r>
              <a:rPr dirty="0" err="1"/>
              <a:t>Anomalías</a:t>
            </a:r>
            <a:r>
              <a:rPr dirty="0"/>
              <a:t>: </a:t>
            </a:r>
            <a:r>
              <a:rPr dirty="0" err="1"/>
              <a:t>Alerta</a:t>
            </a:r>
            <a:r>
              <a:rPr dirty="0"/>
              <a:t> </a:t>
            </a:r>
            <a:r>
              <a:rPr dirty="0" err="1"/>
              <a:t>automática</a:t>
            </a:r>
            <a:r>
              <a:rPr dirty="0"/>
              <a:t> </a:t>
            </a:r>
            <a:r>
              <a:rPr dirty="0" err="1"/>
              <a:t>sobre</a:t>
            </a:r>
            <a:r>
              <a:rPr dirty="0"/>
              <a:t> </a:t>
            </a:r>
            <a:r>
              <a:rPr dirty="0" err="1"/>
              <a:t>camiones</a:t>
            </a:r>
            <a:r>
              <a:rPr dirty="0"/>
              <a:t> con </a:t>
            </a:r>
            <a:r>
              <a:rPr dirty="0" err="1"/>
              <a:t>tiempos</a:t>
            </a:r>
            <a:r>
              <a:rPr dirty="0"/>
              <a:t> de </a:t>
            </a:r>
            <a:r>
              <a:rPr dirty="0" err="1"/>
              <a:t>estadía</a:t>
            </a:r>
            <a:r>
              <a:rPr dirty="0"/>
              <a:t> </a:t>
            </a:r>
            <a:r>
              <a:rPr dirty="0" err="1"/>
              <a:t>inusualmente</a:t>
            </a:r>
            <a:r>
              <a:rPr dirty="0"/>
              <a:t> largos o </a:t>
            </a:r>
            <a:r>
              <a:rPr dirty="0" err="1"/>
              <a:t>variaciones</a:t>
            </a:r>
            <a:r>
              <a:rPr dirty="0"/>
              <a:t> </a:t>
            </a:r>
            <a:r>
              <a:rPr dirty="0" err="1"/>
              <a:t>atípicas</a:t>
            </a:r>
            <a:r>
              <a:rPr dirty="0"/>
              <a:t> de peso.</a:t>
            </a:r>
          </a:p>
          <a:p>
            <a:pPr>
              <a:spcBef>
                <a:spcPts val="900"/>
              </a:spcBef>
              <a:defRPr sz="1100">
                <a:solidFill>
                  <a:srgbClr val="1E293B"/>
                </a:solidFill>
              </a:defRPr>
            </a:pPr>
            <a:r>
              <a:rPr dirty="0"/>
              <a:t>✔ Accesibilidad Ejecutiva: </a:t>
            </a:r>
            <a:r>
              <a:rPr dirty="0" err="1"/>
              <a:t>Permite</a:t>
            </a:r>
            <a:r>
              <a:rPr dirty="0"/>
              <a:t> </a:t>
            </a:r>
            <a:r>
              <a:rPr dirty="0" err="1"/>
              <a:t>tomar</a:t>
            </a:r>
            <a:r>
              <a:rPr dirty="0"/>
              <a:t> </a:t>
            </a:r>
            <a:r>
              <a:rPr dirty="0" err="1"/>
              <a:t>decisiones</a:t>
            </a:r>
            <a:r>
              <a:rPr dirty="0"/>
              <a:t> </a:t>
            </a:r>
            <a:r>
              <a:rPr dirty="0" err="1"/>
              <a:t>comerciales</a:t>
            </a:r>
            <a:r>
              <a:rPr dirty="0"/>
              <a:t> </a:t>
            </a:r>
            <a:r>
              <a:rPr dirty="0" err="1"/>
              <a:t>estratégicas</a:t>
            </a:r>
            <a:r>
              <a:rPr dirty="0"/>
              <a:t> </a:t>
            </a:r>
            <a:r>
              <a:rPr dirty="0" err="1"/>
              <a:t>desde</a:t>
            </a:r>
            <a:r>
              <a:rPr dirty="0"/>
              <a:t> </a:t>
            </a:r>
            <a:r>
              <a:rPr dirty="0" err="1"/>
              <a:t>cualquier</a:t>
            </a:r>
            <a:r>
              <a:rPr dirty="0"/>
              <a:t> </a:t>
            </a:r>
            <a:r>
              <a:rPr dirty="0" err="1"/>
              <a:t>dispositivo</a:t>
            </a:r>
            <a:r>
              <a:rPr dirty="0"/>
              <a:t> </a:t>
            </a:r>
            <a:r>
              <a:rPr dirty="0" err="1"/>
              <a:t>móvil</a:t>
            </a:r>
            <a:r>
              <a:rPr dirty="0"/>
              <a:t> o tablet.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1100" b="1">
                <a:solidFill>
                  <a:srgbClr val="059669"/>
                </a:solidFill>
              </a:defRPr>
            </a:pPr>
            <a:r>
              <a:t>7. VALIDACIÓN Y RESULTADOS</a:t>
            </a:r>
          </a:p>
        </p:txBody>
      </p:sp>
      <p:sp>
        <p:nvSpPr>
          <p:cNvPr id="4" name="TextBox 3"/>
          <p:cNvSpPr txBox="1"/>
          <p:nvPr/>
        </p:nvSpPr>
        <p:spPr>
          <a:xfrm>
            <a:off x="731520" y="640080"/>
            <a:ext cx="7772400" cy="548640"/>
          </a:xfrm>
          <a:prstGeom prst="rect">
            <a:avLst/>
          </a:prstGeom>
          <a:noFill/>
        </p:spPr>
        <p:txBody>
          <a:bodyPr wrap="square" lIns="0" tIns="0" rIns="0" bIns="0">
            <a:spAutoFit/>
          </a:bodyPr>
          <a:lstStyle/>
          <a:p>
            <a:pPr>
              <a:defRPr sz="2200" b="1">
                <a:solidFill>
                  <a:srgbClr val="0F172A"/>
                </a:solidFill>
              </a:defRPr>
            </a:pPr>
            <a:r>
              <a:t>Resultados, Impacto y Validaciones Técnicas</a:t>
            </a:r>
          </a:p>
        </p:txBody>
      </p:sp>
      <p:sp>
        <p:nvSpPr>
          <p:cNvPr id="5" name="Rounded Rectangle 4"/>
          <p:cNvSpPr/>
          <p:nvPr/>
        </p:nvSpPr>
        <p:spPr>
          <a:xfrm>
            <a:off x="8168335" y="411480"/>
            <a:ext cx="3291840" cy="594360"/>
          </a:xfrm>
          <a:prstGeom prst="round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0369A1"/>
                </a:solidFill>
              </a:defRPr>
            </a:pPr>
            <a:r>
              <a:t>👤 Felipe Ricaurte ➡️ Angel Aucancela</a:t>
            </a:r>
          </a:p>
          <a:p>
            <a:pPr algn="ctr">
              <a:defRPr sz="950">
                <a:solidFill>
                  <a:srgbClr val="0369A1"/>
                </a:solidFill>
              </a:defRPr>
            </a:pPr>
            <a:r>
              <a:t>⏱️ 8:15 - 9:15 (60 seg)</a:t>
            </a:r>
          </a:p>
        </p:txBody>
      </p:sp>
      <p:sp>
        <p:nvSpPr>
          <p:cNvPr id="6" name="Rounded Rectangle 5"/>
          <p:cNvSpPr/>
          <p:nvPr/>
        </p:nvSpPr>
        <p:spPr>
          <a:xfrm>
            <a:off x="731520" y="1463040"/>
            <a:ext cx="2468880" cy="2103120"/>
          </a:xfrm>
          <a:prstGeom prst="roundRect">
            <a:avLst/>
          </a:prstGeom>
          <a:solidFill>
            <a:srgbClr val="D1FAE5"/>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897381"/>
            <a:ext cx="2286000" cy="1828799"/>
          </a:xfrm>
          <a:prstGeom prst="rect">
            <a:avLst/>
          </a:prstGeom>
          <a:noFill/>
        </p:spPr>
        <p:txBody>
          <a:bodyPr wrap="square">
            <a:spAutoFit/>
          </a:bodyPr>
          <a:lstStyle/>
          <a:p>
            <a:pPr algn="ctr">
              <a:defRPr sz="2800" b="1">
                <a:solidFill>
                  <a:srgbClr val="059669"/>
                </a:solidFill>
              </a:defRPr>
            </a:pPr>
            <a:r>
              <a:rPr dirty="0"/>
              <a:t>90%</a:t>
            </a:r>
          </a:p>
          <a:p>
            <a:pPr algn="ctr">
              <a:spcBef>
                <a:spcPts val="400"/>
              </a:spcBef>
              <a:defRPr sz="1200" b="1">
                <a:solidFill>
                  <a:srgbClr val="0F172A"/>
                </a:solidFill>
              </a:defRPr>
            </a:pPr>
            <a:r>
              <a:rPr dirty="0" err="1"/>
              <a:t>Reducción</a:t>
            </a:r>
            <a:r>
              <a:rPr dirty="0"/>
              <a:t> de Tiempo</a:t>
            </a:r>
          </a:p>
          <a:p>
            <a:pPr algn="ctr">
              <a:spcBef>
                <a:spcPts val="400"/>
              </a:spcBef>
              <a:defRPr sz="1000">
                <a:solidFill>
                  <a:srgbClr val="1E293B"/>
                </a:solidFill>
              </a:defRPr>
            </a:pPr>
            <a:r>
              <a:rPr dirty="0"/>
              <a:t>De 8 min a &lt; 45 seg </a:t>
            </a:r>
            <a:r>
              <a:rPr dirty="0" err="1"/>
              <a:t>por</a:t>
            </a:r>
            <a:r>
              <a:rPr dirty="0"/>
              <a:t> </a:t>
            </a:r>
            <a:r>
              <a:rPr dirty="0" err="1"/>
              <a:t>pesaje</a:t>
            </a:r>
            <a:r>
              <a:rPr dirty="0"/>
              <a:t> vehicular.</a:t>
            </a:r>
          </a:p>
        </p:txBody>
      </p:sp>
      <p:sp>
        <p:nvSpPr>
          <p:cNvPr id="8" name="Rounded Rectangle 7"/>
          <p:cNvSpPr/>
          <p:nvPr/>
        </p:nvSpPr>
        <p:spPr>
          <a:xfrm>
            <a:off x="3429000" y="1463040"/>
            <a:ext cx="2468880" cy="2103120"/>
          </a:xfrm>
          <a:prstGeom prst="roundRect">
            <a:avLst/>
          </a:prstGeom>
          <a:solidFill>
            <a:srgbClr val="E0F2FE"/>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20440" y="1897381"/>
            <a:ext cx="2286000" cy="1828799"/>
          </a:xfrm>
          <a:prstGeom prst="rect">
            <a:avLst/>
          </a:prstGeom>
          <a:noFill/>
        </p:spPr>
        <p:txBody>
          <a:bodyPr wrap="square">
            <a:spAutoFit/>
          </a:bodyPr>
          <a:lstStyle/>
          <a:p>
            <a:pPr algn="ctr">
              <a:defRPr sz="2800" b="1">
                <a:solidFill>
                  <a:srgbClr val="0284C7"/>
                </a:solidFill>
              </a:defRPr>
            </a:pPr>
            <a:r>
              <a:t>100%</a:t>
            </a:r>
          </a:p>
          <a:p>
            <a:pPr algn="ctr">
              <a:spcBef>
                <a:spcPts val="400"/>
              </a:spcBef>
              <a:defRPr sz="1200" b="1">
                <a:solidFill>
                  <a:srgbClr val="0F172A"/>
                </a:solidFill>
              </a:defRPr>
            </a:pPr>
            <a:r>
              <a:t>Precisión en Datos</a:t>
            </a:r>
          </a:p>
          <a:p>
            <a:pPr algn="ctr">
              <a:spcBef>
                <a:spcPts val="400"/>
              </a:spcBef>
              <a:defRPr sz="1000">
                <a:solidFill>
                  <a:srgbClr val="1E293B"/>
                </a:solidFill>
              </a:defRPr>
            </a:pPr>
            <a:r>
              <a:t>0 errores de digitación y eliminación de lecturas inestables.</a:t>
            </a:r>
          </a:p>
        </p:txBody>
      </p:sp>
      <p:sp>
        <p:nvSpPr>
          <p:cNvPr id="10" name="Rounded Rectangle 9"/>
          <p:cNvSpPr/>
          <p:nvPr/>
        </p:nvSpPr>
        <p:spPr>
          <a:xfrm>
            <a:off x="6126480" y="1463040"/>
            <a:ext cx="2468880" cy="2103120"/>
          </a:xfrm>
          <a:prstGeom prst="roundRect">
            <a:avLst/>
          </a:prstGeom>
          <a:solidFill>
            <a:srgbClr val="F3E8FF"/>
          </a:solidFill>
          <a:ln w="1524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0" y="1897381"/>
            <a:ext cx="2286000" cy="1828799"/>
          </a:xfrm>
          <a:prstGeom prst="rect">
            <a:avLst/>
          </a:prstGeom>
          <a:noFill/>
        </p:spPr>
        <p:txBody>
          <a:bodyPr wrap="square">
            <a:spAutoFit/>
          </a:bodyPr>
          <a:lstStyle/>
          <a:p>
            <a:pPr algn="ctr">
              <a:defRPr sz="2800" b="1">
                <a:solidFill>
                  <a:srgbClr val="7E22CE"/>
                </a:solidFill>
              </a:defRPr>
            </a:pPr>
            <a:r>
              <a:t>100%</a:t>
            </a:r>
          </a:p>
          <a:p>
            <a:pPr algn="ctr">
              <a:spcBef>
                <a:spcPts val="400"/>
              </a:spcBef>
              <a:defRPr sz="1200" b="1">
                <a:solidFill>
                  <a:srgbClr val="0F172A"/>
                </a:solidFill>
              </a:defRPr>
            </a:pPr>
            <a:r>
              <a:t>Trazabilidad Total</a:t>
            </a:r>
          </a:p>
          <a:p>
            <a:pPr algn="ctr">
              <a:spcBef>
                <a:spcPts val="400"/>
              </a:spcBef>
              <a:defRPr sz="1000">
                <a:solidFill>
                  <a:srgbClr val="1E293B"/>
                </a:solidFill>
              </a:defRPr>
            </a:pPr>
            <a:r>
              <a:t>Auditoría integral con IP, usuario y marca de tiempo.</a:t>
            </a:r>
          </a:p>
        </p:txBody>
      </p:sp>
      <p:sp>
        <p:nvSpPr>
          <p:cNvPr id="12" name="Rounded Rectangle 11"/>
          <p:cNvSpPr/>
          <p:nvPr/>
        </p:nvSpPr>
        <p:spPr>
          <a:xfrm>
            <a:off x="8823960" y="1463040"/>
            <a:ext cx="2468880" cy="2103120"/>
          </a:xfrm>
          <a:prstGeom prst="round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15400" y="1897381"/>
            <a:ext cx="2286000" cy="1828799"/>
          </a:xfrm>
          <a:prstGeom prst="rect">
            <a:avLst/>
          </a:prstGeom>
          <a:noFill/>
        </p:spPr>
        <p:txBody>
          <a:bodyPr wrap="square">
            <a:spAutoFit/>
          </a:bodyPr>
          <a:lstStyle/>
          <a:p>
            <a:pPr algn="ctr">
              <a:defRPr sz="2800" b="1">
                <a:solidFill>
                  <a:srgbClr val="D97706"/>
                </a:solidFill>
              </a:defRPr>
            </a:pPr>
            <a:r>
              <a:rPr dirty="0"/>
              <a:t>ROI</a:t>
            </a:r>
          </a:p>
          <a:p>
            <a:pPr algn="ctr">
              <a:spcBef>
                <a:spcPts val="400"/>
              </a:spcBef>
              <a:defRPr sz="1200" b="1">
                <a:solidFill>
                  <a:srgbClr val="0F172A"/>
                </a:solidFill>
              </a:defRPr>
            </a:pPr>
            <a:r>
              <a:rPr dirty="0" err="1"/>
              <a:t>Retorno</a:t>
            </a:r>
            <a:r>
              <a:rPr dirty="0"/>
              <a:t> </a:t>
            </a:r>
            <a:r>
              <a:rPr dirty="0" err="1"/>
              <a:t>Operativo</a:t>
            </a:r>
            <a:endParaRPr dirty="0"/>
          </a:p>
          <a:p>
            <a:pPr algn="ctr">
              <a:spcBef>
                <a:spcPts val="400"/>
              </a:spcBef>
              <a:defRPr sz="1000">
                <a:solidFill>
                  <a:srgbClr val="1E293B"/>
                </a:solidFill>
              </a:defRPr>
            </a:pPr>
            <a:r>
              <a:rPr dirty="0"/>
              <a:t>Mayor </a:t>
            </a:r>
            <a:r>
              <a:rPr dirty="0" err="1"/>
              <a:t>flujo</a:t>
            </a:r>
            <a:r>
              <a:rPr dirty="0"/>
              <a:t> de </a:t>
            </a:r>
            <a:r>
              <a:rPr dirty="0" err="1"/>
              <a:t>camiones</a:t>
            </a:r>
            <a:r>
              <a:rPr dirty="0"/>
              <a:t> </a:t>
            </a:r>
            <a:r>
              <a:rPr dirty="0" err="1"/>
              <a:t>diarios</a:t>
            </a:r>
            <a:r>
              <a:rPr dirty="0"/>
              <a:t> y </a:t>
            </a:r>
            <a:r>
              <a:rPr dirty="0" err="1"/>
              <a:t>liquidaciones</a:t>
            </a:r>
            <a:r>
              <a:rPr dirty="0"/>
              <a:t> sin </a:t>
            </a:r>
            <a:r>
              <a:rPr dirty="0" err="1"/>
              <a:t>disputas</a:t>
            </a:r>
            <a:r>
              <a:rPr dirty="0"/>
              <a:t>.</a:t>
            </a:r>
          </a:p>
        </p:txBody>
      </p:sp>
      <p:sp>
        <p:nvSpPr>
          <p:cNvPr id="14" name="Rounded Rectangle 13"/>
          <p:cNvSpPr/>
          <p:nvPr/>
        </p:nvSpPr>
        <p:spPr>
          <a:xfrm>
            <a:off x="731520" y="3794760"/>
            <a:ext cx="10728655" cy="2468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4366260"/>
            <a:ext cx="10149840" cy="2194560"/>
          </a:xfrm>
          <a:prstGeom prst="rect">
            <a:avLst/>
          </a:prstGeom>
          <a:noFill/>
        </p:spPr>
        <p:txBody>
          <a:bodyPr wrap="square">
            <a:spAutoFit/>
          </a:bodyPr>
          <a:lstStyle/>
          <a:p>
            <a:pPr>
              <a:defRPr sz="1300" b="1">
                <a:solidFill>
                  <a:srgbClr val="0F172A"/>
                </a:solidFill>
              </a:defRPr>
            </a:pPr>
            <a:r>
              <a:rPr dirty="0"/>
              <a:t>🧪 PRUEBAS TÉCNICAS Y VALIDACIONES EJECUTADAS</a:t>
            </a:r>
          </a:p>
          <a:p>
            <a:pPr>
              <a:spcBef>
                <a:spcPts val="500"/>
              </a:spcBef>
              <a:defRPr sz="1100">
                <a:solidFill>
                  <a:srgbClr val="1E293B"/>
                </a:solidFill>
              </a:defRPr>
            </a:pPr>
            <a:r>
              <a:rPr dirty="0"/>
              <a:t>✔ </a:t>
            </a:r>
            <a:r>
              <a:rPr dirty="0" err="1"/>
              <a:t>Pruebas</a:t>
            </a:r>
            <a:r>
              <a:rPr dirty="0"/>
              <a:t> de </a:t>
            </a:r>
            <a:r>
              <a:rPr dirty="0" err="1"/>
              <a:t>Concurrencia</a:t>
            </a:r>
            <a:r>
              <a:rPr dirty="0"/>
              <a:t> y Sockets: </a:t>
            </a:r>
            <a:r>
              <a:rPr dirty="0" err="1"/>
              <a:t>Simulación</a:t>
            </a:r>
            <a:r>
              <a:rPr dirty="0"/>
              <a:t> de 100 </a:t>
            </a:r>
            <a:r>
              <a:rPr dirty="0" err="1"/>
              <a:t>tramas</a:t>
            </a:r>
            <a:r>
              <a:rPr dirty="0"/>
              <a:t>/</a:t>
            </a:r>
            <a:r>
              <a:rPr dirty="0" err="1"/>
              <a:t>segundo</a:t>
            </a:r>
            <a:r>
              <a:rPr dirty="0"/>
              <a:t> sin </a:t>
            </a:r>
            <a:r>
              <a:rPr dirty="0" err="1"/>
              <a:t>pérdidas</a:t>
            </a:r>
            <a:r>
              <a:rPr dirty="0"/>
              <a:t> de </a:t>
            </a:r>
            <a:r>
              <a:rPr dirty="0" err="1"/>
              <a:t>paquetes</a:t>
            </a:r>
            <a:r>
              <a:rPr dirty="0"/>
              <a:t> </a:t>
            </a:r>
            <a:r>
              <a:rPr dirty="0" err="1"/>
              <a:t>ni</a:t>
            </a:r>
            <a:r>
              <a:rPr dirty="0"/>
              <a:t> </a:t>
            </a:r>
            <a:r>
              <a:rPr dirty="0" err="1"/>
              <a:t>congelamiento</a:t>
            </a:r>
            <a:r>
              <a:rPr dirty="0"/>
              <a:t> de </a:t>
            </a:r>
            <a:r>
              <a:rPr dirty="0" err="1"/>
              <a:t>interfaz</a:t>
            </a:r>
            <a:r>
              <a:rPr dirty="0"/>
              <a:t>.</a:t>
            </a:r>
          </a:p>
          <a:p>
            <a:pPr>
              <a:spcBef>
                <a:spcPts val="500"/>
              </a:spcBef>
              <a:defRPr sz="1100">
                <a:solidFill>
                  <a:srgbClr val="1E293B"/>
                </a:solidFill>
              </a:defRPr>
            </a:pPr>
            <a:r>
              <a:rPr dirty="0"/>
              <a:t>✔ </a:t>
            </a:r>
            <a:r>
              <a:rPr dirty="0" err="1"/>
              <a:t>Pruebas</a:t>
            </a:r>
            <a:r>
              <a:rPr dirty="0"/>
              <a:t> de </a:t>
            </a:r>
            <a:r>
              <a:rPr dirty="0" err="1"/>
              <a:t>Seguridad</a:t>
            </a:r>
            <a:r>
              <a:rPr dirty="0"/>
              <a:t> y </a:t>
            </a:r>
            <a:r>
              <a:rPr dirty="0" err="1"/>
              <a:t>Auditoría</a:t>
            </a:r>
            <a:r>
              <a:rPr dirty="0"/>
              <a:t>: </a:t>
            </a:r>
            <a:r>
              <a:rPr dirty="0" err="1"/>
              <a:t>Verificación</a:t>
            </a:r>
            <a:r>
              <a:rPr dirty="0"/>
              <a:t> de </a:t>
            </a:r>
            <a:r>
              <a:rPr dirty="0" err="1"/>
              <a:t>registros</a:t>
            </a:r>
            <a:r>
              <a:rPr dirty="0"/>
              <a:t> </a:t>
            </a:r>
            <a:r>
              <a:rPr dirty="0" err="1"/>
              <a:t>inalterables</a:t>
            </a:r>
            <a:r>
              <a:rPr dirty="0"/>
              <a:t> </a:t>
            </a:r>
            <a:r>
              <a:rPr dirty="0" err="1"/>
              <a:t>en</a:t>
            </a:r>
            <a:r>
              <a:rPr dirty="0"/>
              <a:t> SQL Server ante </a:t>
            </a:r>
            <a:r>
              <a:rPr dirty="0" err="1"/>
              <a:t>intentos</a:t>
            </a:r>
            <a:r>
              <a:rPr dirty="0"/>
              <a:t> de </a:t>
            </a:r>
            <a:r>
              <a:rPr dirty="0" err="1"/>
              <a:t>edición</a:t>
            </a:r>
            <a:r>
              <a:rPr dirty="0"/>
              <a:t> no </a:t>
            </a:r>
            <a:r>
              <a:rPr dirty="0" err="1"/>
              <a:t>autorizada</a:t>
            </a:r>
            <a:r>
              <a:rPr dirty="0"/>
              <a:t>.</a:t>
            </a:r>
          </a:p>
          <a:p>
            <a:pPr>
              <a:spcBef>
                <a:spcPts val="500"/>
              </a:spcBef>
              <a:defRPr sz="1100">
                <a:solidFill>
                  <a:srgbClr val="1E293B"/>
                </a:solidFill>
              </a:defRPr>
            </a:pPr>
            <a:r>
              <a:rPr dirty="0"/>
              <a:t>✔ </a:t>
            </a:r>
            <a:r>
              <a:rPr dirty="0" err="1"/>
              <a:t>Validación</a:t>
            </a:r>
            <a:r>
              <a:rPr dirty="0"/>
              <a:t> </a:t>
            </a:r>
            <a:r>
              <a:rPr dirty="0" err="1"/>
              <a:t>Metrológica</a:t>
            </a:r>
            <a:r>
              <a:rPr dirty="0"/>
              <a:t>: Cero </a:t>
            </a:r>
            <a:r>
              <a:rPr dirty="0" err="1"/>
              <a:t>discrepancia</a:t>
            </a:r>
            <a:r>
              <a:rPr dirty="0"/>
              <a:t> entre el visor </a:t>
            </a:r>
            <a:r>
              <a:rPr dirty="0" err="1"/>
              <a:t>físico</a:t>
            </a:r>
            <a:r>
              <a:rPr dirty="0"/>
              <a:t> de la </a:t>
            </a:r>
            <a:r>
              <a:rPr dirty="0" err="1"/>
              <a:t>balanza</a:t>
            </a:r>
            <a:r>
              <a:rPr dirty="0"/>
              <a:t> Mettler Toledo y el </a:t>
            </a:r>
            <a:r>
              <a:rPr dirty="0" err="1"/>
              <a:t>registro</a:t>
            </a:r>
            <a:r>
              <a:rPr dirty="0"/>
              <a:t> </a:t>
            </a:r>
            <a:r>
              <a:rPr dirty="0" err="1"/>
              <a:t>en</a:t>
            </a:r>
            <a:r>
              <a:rPr dirty="0"/>
              <a:t> el </a:t>
            </a:r>
            <a:r>
              <a:rPr dirty="0" err="1"/>
              <a:t>sistema</a:t>
            </a:r>
            <a:r>
              <a:rPr dirty="0"/>
              <a:t> web.</a:t>
            </a:r>
          </a:p>
          <a:p>
            <a:pPr>
              <a:spcBef>
                <a:spcPts val="500"/>
              </a:spcBef>
              <a:defRPr sz="1100">
                <a:solidFill>
                  <a:srgbClr val="1E293B"/>
                </a:solidFill>
              </a:defRPr>
            </a:pPr>
            <a:r>
              <a:rPr dirty="0"/>
              <a:t>✔ </a:t>
            </a:r>
            <a:r>
              <a:rPr dirty="0" err="1"/>
              <a:t>Aceptación</a:t>
            </a:r>
            <a:r>
              <a:rPr dirty="0"/>
              <a:t> de </a:t>
            </a:r>
            <a:r>
              <a:rPr dirty="0" err="1"/>
              <a:t>Usuario</a:t>
            </a:r>
            <a:r>
              <a:rPr dirty="0"/>
              <a:t>: </a:t>
            </a:r>
            <a:r>
              <a:rPr dirty="0" err="1"/>
              <a:t>Evaluación</a:t>
            </a:r>
            <a:r>
              <a:rPr dirty="0"/>
              <a:t> con </a:t>
            </a:r>
            <a:r>
              <a:rPr dirty="0" err="1"/>
              <a:t>operadores</a:t>
            </a:r>
            <a:r>
              <a:rPr dirty="0"/>
              <a:t> de </a:t>
            </a:r>
            <a:r>
              <a:rPr dirty="0" err="1"/>
              <a:t>báscula</a:t>
            </a:r>
            <a:r>
              <a:rPr dirty="0"/>
              <a:t> de 'El Troje', </a:t>
            </a:r>
            <a:r>
              <a:rPr dirty="0" err="1"/>
              <a:t>validando</a:t>
            </a:r>
            <a:r>
              <a:rPr dirty="0"/>
              <a:t> </a:t>
            </a:r>
            <a:r>
              <a:rPr dirty="0" err="1"/>
              <a:t>una</a:t>
            </a:r>
            <a:r>
              <a:rPr dirty="0"/>
              <a:t> curva de </a:t>
            </a:r>
            <a:r>
              <a:rPr dirty="0" err="1"/>
              <a:t>aprendizaje</a:t>
            </a:r>
            <a:r>
              <a:rPr dirty="0"/>
              <a:t> inferior a 30 </a:t>
            </a:r>
            <a:r>
              <a:rPr dirty="0" err="1"/>
              <a:t>minutos</a:t>
            </a:r>
            <a:r>
              <a:rPr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1100" b="1">
                <a:solidFill>
                  <a:srgbClr val="059669"/>
                </a:solidFill>
              </a:defRPr>
            </a:pPr>
            <a:r>
              <a:t>8. SÍNTESIS Y APORTES</a:t>
            </a:r>
          </a:p>
        </p:txBody>
      </p:sp>
      <p:sp>
        <p:nvSpPr>
          <p:cNvPr id="4" name="TextBox 3"/>
          <p:cNvSpPr txBox="1"/>
          <p:nvPr/>
        </p:nvSpPr>
        <p:spPr>
          <a:xfrm>
            <a:off x="731520" y="640080"/>
            <a:ext cx="7772400" cy="548640"/>
          </a:xfrm>
          <a:prstGeom prst="rect">
            <a:avLst/>
          </a:prstGeom>
          <a:noFill/>
        </p:spPr>
        <p:txBody>
          <a:bodyPr wrap="square" lIns="0" tIns="0" rIns="0" bIns="0">
            <a:spAutoFit/>
          </a:bodyPr>
          <a:lstStyle/>
          <a:p>
            <a:pPr>
              <a:defRPr sz="2200" b="1">
                <a:solidFill>
                  <a:srgbClr val="0F172A"/>
                </a:solidFill>
              </a:defRPr>
            </a:pPr>
            <a:r>
              <a:t>Conclusiones y Recomendaciones</a:t>
            </a:r>
          </a:p>
        </p:txBody>
      </p:sp>
      <p:sp>
        <p:nvSpPr>
          <p:cNvPr id="5" name="Rounded Rectangle 4"/>
          <p:cNvSpPr/>
          <p:nvPr/>
        </p:nvSpPr>
        <p:spPr>
          <a:xfrm>
            <a:off x="8168335" y="411480"/>
            <a:ext cx="3291840" cy="594360"/>
          </a:xfrm>
          <a:prstGeom prst="roundRect">
            <a:avLst/>
          </a:prstGeom>
          <a:solidFill>
            <a:srgbClr val="E0F2FE"/>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000" b="1">
                <a:solidFill>
                  <a:srgbClr val="0369A1"/>
                </a:solidFill>
              </a:defRPr>
            </a:pPr>
            <a:r>
              <a:t>👤 Angel Aucancela</a:t>
            </a:r>
          </a:p>
          <a:p>
            <a:pPr algn="ctr">
              <a:defRPr sz="950">
                <a:solidFill>
                  <a:srgbClr val="0369A1"/>
                </a:solidFill>
              </a:defRPr>
            </a:pPr>
            <a:r>
              <a:t>⏱️ 9:15 - 9:45 (30 seg)</a:t>
            </a:r>
          </a:p>
        </p:txBody>
      </p:sp>
      <p:sp>
        <p:nvSpPr>
          <p:cNvPr id="6" name="Rounded Rectangle 5"/>
          <p:cNvSpPr/>
          <p:nvPr/>
        </p:nvSpPr>
        <p:spPr>
          <a:xfrm>
            <a:off x="731520" y="1463040"/>
            <a:ext cx="5212080" cy="4846320"/>
          </a:xfrm>
          <a:prstGeom prst="roundRect">
            <a:avLst/>
          </a:prstGeom>
          <a:solidFill>
            <a:srgbClr val="FFFFFF"/>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834640"/>
            <a:ext cx="4663440" cy="4389120"/>
          </a:xfrm>
          <a:prstGeom prst="rect">
            <a:avLst/>
          </a:prstGeom>
          <a:noFill/>
        </p:spPr>
        <p:txBody>
          <a:bodyPr wrap="square">
            <a:spAutoFit/>
          </a:bodyPr>
          <a:lstStyle/>
          <a:p>
            <a:pPr>
              <a:defRPr sz="1400" b="1">
                <a:solidFill>
                  <a:srgbClr val="047857"/>
                </a:solidFill>
              </a:defRPr>
            </a:pPr>
            <a:r>
              <a:rPr dirty="0"/>
              <a:t>🏁 CONCLUSIONES</a:t>
            </a:r>
          </a:p>
          <a:p>
            <a:pPr>
              <a:spcBef>
                <a:spcPts val="1200"/>
              </a:spcBef>
              <a:defRPr sz="1150">
                <a:solidFill>
                  <a:srgbClr val="1E293B"/>
                </a:solidFill>
              </a:defRPr>
            </a:pPr>
            <a:r>
              <a:rPr dirty="0"/>
              <a:t>• </a:t>
            </a:r>
            <a:r>
              <a:rPr dirty="0" err="1"/>
              <a:t>Automatización</a:t>
            </a:r>
            <a:r>
              <a:rPr dirty="0"/>
              <a:t> Integral </a:t>
            </a:r>
            <a:r>
              <a:rPr dirty="0" err="1"/>
              <a:t>Exitosa</a:t>
            </a:r>
            <a:r>
              <a:rPr dirty="0"/>
              <a:t>: Se </a:t>
            </a:r>
            <a:r>
              <a:rPr dirty="0" err="1"/>
              <a:t>cumplió</a:t>
            </a:r>
            <a:r>
              <a:rPr dirty="0"/>
              <a:t> al 100% el </a:t>
            </a:r>
            <a:r>
              <a:rPr dirty="0" err="1"/>
              <a:t>objetivo</a:t>
            </a:r>
            <a:r>
              <a:rPr dirty="0"/>
              <a:t> de </a:t>
            </a:r>
            <a:r>
              <a:rPr dirty="0" err="1"/>
              <a:t>integrar</a:t>
            </a:r>
            <a:r>
              <a:rPr dirty="0"/>
              <a:t> la </a:t>
            </a:r>
            <a:r>
              <a:rPr dirty="0" err="1"/>
              <a:t>balanza</a:t>
            </a:r>
            <a:r>
              <a:rPr dirty="0"/>
              <a:t> Mettler Toledo IND780 </a:t>
            </a:r>
            <a:r>
              <a:rPr dirty="0" err="1"/>
              <a:t>mediante</a:t>
            </a:r>
            <a:r>
              <a:rPr dirty="0"/>
              <a:t> sockets Ethernet TCP/IP.</a:t>
            </a:r>
          </a:p>
          <a:p>
            <a:pPr>
              <a:spcBef>
                <a:spcPts val="1200"/>
              </a:spcBef>
              <a:defRPr sz="1150">
                <a:solidFill>
                  <a:srgbClr val="1E293B"/>
                </a:solidFill>
              </a:defRPr>
            </a:pPr>
            <a:r>
              <a:rPr dirty="0"/>
              <a:t>• </a:t>
            </a:r>
            <a:r>
              <a:rPr dirty="0" err="1"/>
              <a:t>Arquitectura</a:t>
            </a:r>
            <a:r>
              <a:rPr dirty="0"/>
              <a:t> </a:t>
            </a:r>
            <a:r>
              <a:rPr dirty="0" err="1"/>
              <a:t>Sólida</a:t>
            </a:r>
            <a:r>
              <a:rPr dirty="0"/>
              <a:t> y </a:t>
            </a:r>
            <a:r>
              <a:rPr dirty="0" err="1"/>
              <a:t>Escalable</a:t>
            </a:r>
            <a:r>
              <a:rPr dirty="0"/>
              <a:t>: El </a:t>
            </a:r>
            <a:r>
              <a:rPr dirty="0" err="1"/>
              <a:t>desacoplamiento</a:t>
            </a:r>
            <a:r>
              <a:rPr dirty="0"/>
              <a:t> </a:t>
            </a:r>
            <a:r>
              <a:rPr dirty="0" err="1"/>
              <a:t>en</a:t>
            </a:r>
            <a:r>
              <a:rPr dirty="0"/>
              <a:t> 5 </a:t>
            </a:r>
            <a:r>
              <a:rPr dirty="0" err="1"/>
              <a:t>capas</a:t>
            </a:r>
            <a:r>
              <a:rPr dirty="0"/>
              <a:t> (.NET 10, Angular 19, Dapper y SQL Server) </a:t>
            </a:r>
            <a:r>
              <a:rPr dirty="0" err="1"/>
              <a:t>asegura</a:t>
            </a:r>
            <a:r>
              <a:rPr dirty="0"/>
              <a:t> un </a:t>
            </a:r>
            <a:r>
              <a:rPr dirty="0" err="1"/>
              <a:t>mantenimiento</a:t>
            </a:r>
            <a:r>
              <a:rPr dirty="0"/>
              <a:t> </a:t>
            </a:r>
            <a:r>
              <a:rPr dirty="0" err="1"/>
              <a:t>eficiente</a:t>
            </a:r>
            <a:r>
              <a:rPr dirty="0"/>
              <a:t> a largo </a:t>
            </a:r>
            <a:r>
              <a:rPr dirty="0" err="1"/>
              <a:t>plazo</a:t>
            </a:r>
            <a:r>
              <a:rPr dirty="0"/>
              <a:t>.</a:t>
            </a:r>
          </a:p>
          <a:p>
            <a:pPr>
              <a:spcBef>
                <a:spcPts val="1200"/>
              </a:spcBef>
              <a:defRPr sz="1150">
                <a:solidFill>
                  <a:srgbClr val="1E293B"/>
                </a:solidFill>
              </a:defRPr>
            </a:pPr>
            <a:r>
              <a:rPr dirty="0"/>
              <a:t>• </a:t>
            </a:r>
            <a:r>
              <a:rPr dirty="0" err="1"/>
              <a:t>Transparencia</a:t>
            </a:r>
            <a:r>
              <a:rPr dirty="0"/>
              <a:t> </a:t>
            </a:r>
            <a:r>
              <a:rPr dirty="0" err="1"/>
              <a:t>Comercial</a:t>
            </a:r>
            <a:r>
              <a:rPr dirty="0"/>
              <a:t> y </a:t>
            </a:r>
            <a:r>
              <a:rPr dirty="0" err="1"/>
              <a:t>Tributaria</a:t>
            </a:r>
            <a:r>
              <a:rPr dirty="0"/>
              <a:t>: La </a:t>
            </a:r>
            <a:r>
              <a:rPr dirty="0" err="1"/>
              <a:t>auditoría</a:t>
            </a:r>
            <a:r>
              <a:rPr dirty="0"/>
              <a:t> integral de </a:t>
            </a:r>
            <a:r>
              <a:rPr dirty="0" err="1"/>
              <a:t>transacciones</a:t>
            </a:r>
            <a:r>
              <a:rPr dirty="0"/>
              <a:t> </a:t>
            </a:r>
            <a:r>
              <a:rPr dirty="0" err="1"/>
              <a:t>elimina</a:t>
            </a:r>
            <a:r>
              <a:rPr dirty="0"/>
              <a:t> </a:t>
            </a:r>
            <a:r>
              <a:rPr dirty="0" err="1"/>
              <a:t>disputas</a:t>
            </a:r>
            <a:r>
              <a:rPr dirty="0"/>
              <a:t> entre </a:t>
            </a:r>
            <a:r>
              <a:rPr dirty="0" err="1"/>
              <a:t>productores</a:t>
            </a:r>
            <a:r>
              <a:rPr dirty="0"/>
              <a:t> y </a:t>
            </a:r>
            <a:r>
              <a:rPr dirty="0" err="1"/>
              <a:t>centro</a:t>
            </a:r>
            <a:r>
              <a:rPr dirty="0"/>
              <a:t> de </a:t>
            </a:r>
            <a:r>
              <a:rPr dirty="0" err="1"/>
              <a:t>acopio</a:t>
            </a:r>
            <a:r>
              <a:rPr dirty="0"/>
              <a:t>.</a:t>
            </a:r>
          </a:p>
        </p:txBody>
      </p:sp>
      <p:sp>
        <p:nvSpPr>
          <p:cNvPr id="8" name="Rounded Rectangle 7"/>
          <p:cNvSpPr/>
          <p:nvPr/>
        </p:nvSpPr>
        <p:spPr>
          <a:xfrm>
            <a:off x="6217920" y="1463040"/>
            <a:ext cx="5212080" cy="484632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2834640"/>
            <a:ext cx="4663440" cy="4389120"/>
          </a:xfrm>
          <a:prstGeom prst="rect">
            <a:avLst/>
          </a:prstGeom>
          <a:noFill/>
        </p:spPr>
        <p:txBody>
          <a:bodyPr wrap="square">
            <a:spAutoFit/>
          </a:bodyPr>
          <a:lstStyle/>
          <a:p>
            <a:pPr>
              <a:defRPr sz="1400" b="1">
                <a:solidFill>
                  <a:srgbClr val="0284C7"/>
                </a:solidFill>
              </a:defRPr>
            </a:pPr>
            <a:r>
              <a:t>🚀 RECOMENDACIONES Y FUTURO</a:t>
            </a:r>
          </a:p>
          <a:p>
            <a:pPr>
              <a:spcBef>
                <a:spcPts val="1200"/>
              </a:spcBef>
              <a:defRPr sz="1150">
                <a:solidFill>
                  <a:srgbClr val="1E293B"/>
                </a:solidFill>
              </a:defRPr>
            </a:pPr>
            <a:r>
              <a:t>• Ampliación de Telemetría IoT: Integrar sensores de aproximación y semáforos industriales en plataforma.</a:t>
            </a:r>
          </a:p>
          <a:p>
            <a:pPr>
              <a:spcBef>
                <a:spcPts val="1200"/>
              </a:spcBef>
              <a:defRPr sz="1150">
                <a:solidFill>
                  <a:srgbClr val="1E293B"/>
                </a:solidFill>
              </a:defRPr>
            </a:pPr>
            <a:r>
              <a:t>• Notificaciones en Tiempo Real (WhatsApp / PWA): Envío automático del ticket digital en PDF al agricultor tras la salida del camión.</a:t>
            </a:r>
          </a:p>
          <a:p>
            <a:pPr>
              <a:spcBef>
                <a:spcPts val="1200"/>
              </a:spcBef>
              <a:defRPr sz="1150">
                <a:solidFill>
                  <a:srgbClr val="1E293B"/>
                </a:solidFill>
              </a:defRPr>
            </a:pPr>
            <a:r>
              <a:t>• Modelos Predictivos Avanzados: Incorporar algoritmos de Machine Learning para predecir precios y rendimientos por época de cosecha.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362895" cy="1371600"/>
          </a:xfrm>
          <a:prstGeom prst="rect">
            <a:avLst/>
          </a:prstGeom>
          <a:noFill/>
        </p:spPr>
        <p:txBody>
          <a:bodyPr wrap="square">
            <a:spAutoFit/>
          </a:bodyPr>
          <a:lstStyle/>
          <a:p>
            <a:pPr algn="ctr">
              <a:defRPr sz="3600" b="1">
                <a:solidFill>
                  <a:srgbClr val="FFFFFF"/>
                </a:solidFill>
              </a:defRPr>
            </a:pPr>
            <a:r>
              <a:rPr dirty="0"/>
              <a:t>¡</a:t>
            </a:r>
            <a:r>
              <a:rPr dirty="0" err="1"/>
              <a:t>Muchas</a:t>
            </a:r>
            <a:r>
              <a:rPr dirty="0"/>
              <a:t> Gracias </a:t>
            </a:r>
            <a:r>
              <a:rPr dirty="0" err="1"/>
              <a:t>por</a:t>
            </a:r>
            <a:r>
              <a:rPr dirty="0"/>
              <a:t> </a:t>
            </a:r>
            <a:r>
              <a:rPr dirty="0" err="1"/>
              <a:t>su</a:t>
            </a:r>
            <a:r>
              <a:rPr dirty="0"/>
              <a:t> </a:t>
            </a:r>
            <a:r>
              <a:rPr dirty="0" err="1"/>
              <a:t>Atención</a:t>
            </a:r>
            <a:r>
              <a:rPr dirty="0"/>
              <a:t>!</a:t>
            </a:r>
          </a:p>
          <a:p>
            <a:pPr algn="ctr">
              <a:spcBef>
                <a:spcPts val="1000"/>
              </a:spcBef>
              <a:defRPr sz="1800">
                <a:solidFill>
                  <a:srgbClr val="34D399"/>
                </a:solidFill>
              </a:defRPr>
            </a:pPr>
            <a:r>
              <a:rPr dirty="0"/>
              <a:t>Sistema Web </a:t>
            </a:r>
            <a:r>
              <a:rPr dirty="0" err="1"/>
              <a:t>Inteligente</a:t>
            </a:r>
            <a:r>
              <a:rPr dirty="0"/>
              <a:t> de Balanza </a:t>
            </a:r>
            <a:r>
              <a:rPr dirty="0" err="1"/>
              <a:t>Camionera</a:t>
            </a:r>
            <a:r>
              <a:rPr dirty="0"/>
              <a:t> — Empresa 'El Troje'</a:t>
            </a:r>
          </a:p>
        </p:txBody>
      </p:sp>
      <p:sp>
        <p:nvSpPr>
          <p:cNvPr id="4" name="Rounded Rectangle 3"/>
          <p:cNvSpPr/>
          <p:nvPr/>
        </p:nvSpPr>
        <p:spPr>
          <a:xfrm>
            <a:off x="2437790" y="3291840"/>
            <a:ext cx="7315200" cy="23774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651760" y="3977640"/>
            <a:ext cx="6858000" cy="2011680"/>
          </a:xfrm>
          <a:prstGeom prst="rect">
            <a:avLst/>
          </a:prstGeom>
          <a:noFill/>
        </p:spPr>
        <p:txBody>
          <a:bodyPr wrap="square">
            <a:spAutoFit/>
          </a:bodyPr>
          <a:lstStyle/>
          <a:p>
            <a:pPr algn="ctr">
              <a:defRPr sz="1400" b="1">
                <a:solidFill>
                  <a:srgbClr val="38BDF8"/>
                </a:solidFill>
              </a:defRPr>
            </a:pPr>
            <a:r>
              <a:rPr dirty="0"/>
              <a:t>RONDA DE PREGUNTAS Y DEFENSA ORAL</a:t>
            </a:r>
          </a:p>
          <a:p>
            <a:pPr algn="ctr">
              <a:spcBef>
                <a:spcPts val="800"/>
              </a:spcBef>
              <a:defRPr sz="1300" b="1">
                <a:solidFill>
                  <a:srgbClr val="FFFFFF"/>
                </a:solidFill>
              </a:defRPr>
            </a:pPr>
            <a:r>
              <a:rPr dirty="0"/>
              <a:t>Angel Stalin Aucancela Tamay  |  Ricaurte Solis Felipe Renato</a:t>
            </a:r>
          </a:p>
          <a:p>
            <a:pPr algn="ctr">
              <a:spcBef>
                <a:spcPts val="1000"/>
              </a:spcBef>
              <a:defRPr sz="1200">
                <a:solidFill>
                  <a:srgbClr val="CBD5E1"/>
                </a:solidFill>
              </a:defRPr>
            </a:pPr>
            <a:r>
              <a:rPr dirty="0" err="1"/>
              <a:t>Quedamos</a:t>
            </a:r>
            <a:r>
              <a:rPr dirty="0"/>
              <a:t> a </a:t>
            </a:r>
            <a:r>
              <a:rPr dirty="0" err="1"/>
              <a:t>su</a:t>
            </a:r>
            <a:r>
              <a:rPr dirty="0"/>
              <a:t> entera </a:t>
            </a:r>
            <a:r>
              <a:rPr dirty="0" err="1"/>
              <a:t>disposición</a:t>
            </a:r>
            <a:r>
              <a:rPr dirty="0"/>
              <a:t> para responder a las </a:t>
            </a:r>
            <a:r>
              <a:rPr dirty="0" err="1"/>
              <a:t>preguntas</a:t>
            </a:r>
            <a:r>
              <a:rPr dirty="0"/>
              <a:t> y </a:t>
            </a:r>
            <a:r>
              <a:rPr dirty="0" err="1"/>
              <a:t>observaciones</a:t>
            </a:r>
            <a:r>
              <a:rPr dirty="0"/>
              <a:t> del Honorable Tribunal.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3488</Words>
  <Application>Microsoft Office PowerPoint</Application>
  <PresentationFormat>Widescreen</PresentationFormat>
  <Paragraphs>260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Felipe Renato Ricaurte Solis</cp:lastModifiedBy>
  <cp:revision>2</cp:revision>
  <dcterms:created xsi:type="dcterms:W3CDTF">2013-01-27T09:14:16Z</dcterms:created>
  <dcterms:modified xsi:type="dcterms:W3CDTF">2026-08-29T02:41:21Z</dcterms:modified>
  <cp:category/>
</cp:coreProperties>
</file>